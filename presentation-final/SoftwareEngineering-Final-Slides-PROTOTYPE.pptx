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Merriweather Light"/>
      <p:regular r:id="rId51"/>
      <p:bold r:id="rId52"/>
      <p:italic r:id="rId53"/>
      <p:boldItalic r:id="rId54"/>
    </p:embeddedFont>
    <p:embeddedFont>
      <p:font typeface="Merriweather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49AB95-6C66-4B24-9014-133E2924CBF4}">
  <a:tblStyle styleId="{3949AB95-6C66-4B24-9014-133E2924CBF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erriweatherLight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MerriweatherLight-italic.fntdata"/><Relationship Id="rId52" Type="http://schemas.openxmlformats.org/officeDocument/2006/relationships/font" Target="fonts/MerriweatherLight-bold.fntdata"/><Relationship Id="rId11" Type="http://schemas.openxmlformats.org/officeDocument/2006/relationships/slide" Target="slides/slide5.xml"/><Relationship Id="rId55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54" Type="http://schemas.openxmlformats.org/officeDocument/2006/relationships/font" Target="fonts/MerriweatherLight-boldItalic.fntdata"/><Relationship Id="rId13" Type="http://schemas.openxmlformats.org/officeDocument/2006/relationships/slide" Target="slides/slide7.xml"/><Relationship Id="rId57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56" Type="http://schemas.openxmlformats.org/officeDocument/2006/relationships/font" Target="fonts/Merriweather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7cd70b34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e7cd70b34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7700c53d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e7700c53d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e7700c53d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e7700c53d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e7cd70b34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e7cd70b34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7cd70b34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e7cd70b34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e7cd70b34_5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e7cd70b34_5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7cd70b34_5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7cd70b34_5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e7cd70b34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e7cd70b34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7cd70b34_5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e7cd70b34_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e7cd70b34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e7cd70b34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e7cd70b34_5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e7cd70b34_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e7cd70b34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e7cd70b34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7cd70b34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e7cd70b34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e7cd70b34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e7cd70b34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e7cd70b3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e7cd70b3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e7cd70b34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e7cd70b34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7cd70b34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e7cd70b34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e7cd70b34_3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e7cd70b34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7700c53d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e7700c53d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7700c53d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e7700c53d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e7700c53d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e7700c53d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e7700c53d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e7700c53d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e7700c53d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e7700c53d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e7700c5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e7700c5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e7700c53d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e7700c53d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e7700c53d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e7700c53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e7700c53d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e7700c53d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7700c53d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e7700c53d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e7cd70b34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e7cd70b34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7cd70b34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e7cd70b34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7cd70b34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e7cd70b34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e7cd70b34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e7cd70b34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e7cd70b34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e7cd70b34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e7cd70b3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e7cd70b3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e7cd70b34_3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e7cd70b34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e7cd70b34_3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e7cd70b34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e7cd70b34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e7cd70b34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e7cd70b34_3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e7cd70b34_3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e7cd70b34_3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e7cd70b34_3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800"/>
              <a:t>Hexfields: Dominion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/>
              <a:t>- Abschlusspräsentation</a:t>
            </a:r>
            <a:r>
              <a:rPr lang="de" sz="2000"/>
              <a:t> am 03.06.2025 -</a:t>
            </a:r>
            <a:endParaRPr sz="20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5492050" y="4002500"/>
            <a:ext cx="3555900" cy="10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184">
                <a:solidFill>
                  <a:srgbClr val="CCCCCC"/>
                </a:solidFill>
              </a:rPr>
              <a:t>Software Engineering Projekt von</a:t>
            </a:r>
            <a:endParaRPr i="1" sz="1184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CCCCCC"/>
                </a:solidFill>
              </a:rPr>
              <a:t>Alexander Horst 	(Matrnr. 1126225)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CCCCCC"/>
                </a:solidFill>
              </a:rPr>
              <a:t>Marcel Steinle 		(Matrnr. 6322372)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CCCCCC"/>
                </a:solidFill>
              </a:rPr>
              <a:t>Jona Lauber	 	(Matrnr. 9780567)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025" y="684504"/>
            <a:ext cx="992925" cy="99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026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Gliederung</a:t>
            </a:r>
            <a:endParaRPr/>
          </a:p>
        </p:txBody>
      </p:sp>
      <p:sp>
        <p:nvSpPr>
          <p:cNvPr id="72" name="Google Shape;72;p14"/>
          <p:cNvSpPr txBox="1"/>
          <p:nvPr>
            <p:ph idx="4294967295" type="body"/>
          </p:nvPr>
        </p:nvSpPr>
        <p:spPr>
          <a:xfrm>
            <a:off x="2040825" y="1614450"/>
            <a:ext cx="5241900" cy="32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Vision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Architekturentscheidungen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Design Patterns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Tech-Stack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Tests und Metriken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CI/CD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Demo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Projektmanagement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de" sz="2200">
                <a:solidFill>
                  <a:srgbClr val="000000"/>
                </a:solidFill>
              </a:rPr>
              <a:t>Learnings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Vision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300" y="500925"/>
            <a:ext cx="3704400" cy="9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Vision</a:t>
            </a:r>
            <a:endParaRPr/>
          </a:p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8300" y="1423350"/>
            <a:ext cx="4563600" cy="3327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Multiplayer-Spiel im Webbrowser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online zugängliche Alternative zum klassischen Brettspiel “</a:t>
            </a:r>
            <a:r>
              <a:rPr i="1" lang="de" sz="1500">
                <a:solidFill>
                  <a:schemeClr val="accent2"/>
                </a:solidFill>
                <a:highlight>
                  <a:srgbClr val="31394D"/>
                </a:highlight>
              </a:rPr>
              <a:t>Siedler von Catan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”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Mit Freunden oder zufälligen Spielern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Mit oder Ohne Accounts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Egal welcher Computer, nur ein Browser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84" name="Google Shape;84;p1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225" y="1311400"/>
            <a:ext cx="3360950" cy="2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ctrTitle"/>
          </p:nvPr>
        </p:nvSpPr>
        <p:spPr>
          <a:xfrm>
            <a:off x="1110375" y="1391300"/>
            <a:ext cx="69525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Architekturentscheidungen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300" y="500925"/>
            <a:ext cx="3704400" cy="1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</a:t>
            </a: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Systemarchitektur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Nach </a:t>
            </a:r>
            <a:r>
              <a:rPr b="1" lang="de" sz="1500">
                <a:solidFill>
                  <a:schemeClr val="lt1"/>
                </a:solidFill>
                <a:highlight>
                  <a:srgbClr val="31394D"/>
                </a:highlight>
              </a:rPr>
              <a:t>MVC-Modell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 vorgegangen: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 u="sng">
                <a:solidFill>
                  <a:schemeClr val="accent2"/>
                </a:solidFill>
                <a:highlight>
                  <a:srgbClr val="31394D"/>
                </a:highlight>
              </a:rPr>
              <a:t>M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odel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mit der Datenbank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PostgreSQL (bekannt)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 u="sng">
                <a:solidFill>
                  <a:schemeClr val="accent2"/>
                </a:solidFill>
                <a:highlight>
                  <a:srgbClr val="31394D"/>
                </a:highlight>
              </a:rPr>
              <a:t>V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iew auf einer Webseite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React TypeScript (vertraut)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 u="sng">
                <a:solidFill>
                  <a:schemeClr val="accent2"/>
                </a:solidFill>
                <a:highlight>
                  <a:srgbClr val="31394D"/>
                </a:highlight>
              </a:rPr>
              <a:t>C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ontroller auf dem Server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Java Spring (einfaches MVC)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96" name="Google Shape;96;p18" title="MVC-Diagram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350" y="995363"/>
            <a:ext cx="425767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300" y="500925"/>
            <a:ext cx="3704400" cy="1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Repository-Pattern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02" name="Google Shape;102;p19"/>
          <p:cNvSpPr txBox="1"/>
          <p:nvPr>
            <p:ph idx="2" type="body"/>
          </p:nvPr>
        </p:nvSpPr>
        <p:spPr>
          <a:xfrm>
            <a:off x="8300" y="1423350"/>
            <a:ext cx="43812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Im Backend implementiert</a:t>
            </a:r>
            <a:b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</a:b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Repositories repräsentieren Tabellen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DB-Anfragen im Code laufen immer über ein Repository ab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Repository-Klassen als Schnittstelle zur Datenbank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Übernehmen Mapping:</a:t>
            </a:r>
            <a:b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</a:b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Java Objekte ↔ DB-Format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descr="Bild Quelle: https://norberteder.com/das-repository-pattern-anhand-eines-beispiels-inkl-tests/"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400" y="2106613"/>
            <a:ext cx="4381200" cy="9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5475300" y="4404450"/>
            <a:ext cx="276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</a:t>
            </a:r>
            <a:b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norberteder.com/das-repository-pattern-anhand-eines-bespiels_inkl-tests/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300" y="500925"/>
            <a:ext cx="3704400" cy="9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Codestruktur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Frontend: Component-basiert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components/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→ UI-Elemente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pages/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	→ Seiten-JSX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	→ globale Ressourcen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Backend: Package-basiert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account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	→ Auth, Login, …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game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		→ Spiellogik, Züge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lobby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 		→ Lobby-Verwaltung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… mit </a:t>
            </a:r>
            <a:r>
              <a:rPr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.dto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-Packages (Abstraktion)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4612725" y="2978375"/>
            <a:ext cx="479400" cy="1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9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5092118" y="3631863"/>
            <a:ext cx="4053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Bedingt durch Repository-Pattern</a:t>
            </a:r>
            <a:endParaRPr b="1" i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614039" y="1434668"/>
            <a:ext cx="479400" cy="1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9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9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5092118" y="2092038"/>
            <a:ext cx="4053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Bedingt durch React Framework</a:t>
            </a:r>
            <a:endParaRPr b="1" i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300" y="500925"/>
            <a:ext cx="3704400" cy="1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Konnektivität &amp; Auth.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Heartbeat-Mechanismus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Client sendet Auth-Token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Backend erkennt inaktive Clients innerhalb von 10 Sekunden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→ Lobbies/Matches freigeben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Token-Caching (IP-Hashmap)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Schnelle Validierung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Verhindert Lobby-Spam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→ verdächtige Tokens löschen</a:t>
            </a:r>
            <a:b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121" name="Google Shape;121;p21" title="heartbeat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200" y="2110590"/>
            <a:ext cx="3401950" cy="11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 title="heartbeatgone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195" y="3592965"/>
            <a:ext cx="3401955" cy="11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 rotWithShape="1">
          <a:blip r:embed="rId5">
            <a:alphaModFix/>
          </a:blip>
          <a:srcRect b="10899" l="4133" r="4023" t="11971"/>
          <a:stretch/>
        </p:blipFill>
        <p:spPr>
          <a:xfrm>
            <a:off x="5215200" y="439344"/>
            <a:ext cx="3401950" cy="136248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6118925" y="646425"/>
            <a:ext cx="1594500" cy="3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300" y="500925"/>
            <a:ext cx="3704400" cy="1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URL-Design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Lobbies und Matches müssen </a:t>
            </a:r>
            <a:r>
              <a:rPr b="1" lang="de" sz="1500">
                <a:solidFill>
                  <a:schemeClr val="lt1"/>
                </a:solidFill>
                <a:highlight>
                  <a:srgbClr val="31394D"/>
                </a:highlight>
              </a:rPr>
              <a:t>eindeutig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 sein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Lobby-Code </a:t>
            </a:r>
            <a:r>
              <a:rPr b="1" lang="de" sz="1500">
                <a:solidFill>
                  <a:schemeClr val="lt1"/>
                </a:solidFill>
                <a:highlight>
                  <a:srgbClr val="31394D"/>
                </a:highlight>
                <a:latin typeface="Consolas"/>
                <a:ea typeface="Consolas"/>
                <a:cs typeface="Consolas"/>
                <a:sym typeface="Consolas"/>
              </a:rPr>
              <a:t>/lobby/[CODE]</a:t>
            </a:r>
            <a:endParaRPr b="1" sz="1500">
              <a:solidFill>
                <a:schemeClr val="lt1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Beitritt mit Code (sofern angemeldet)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Einfache Abfolge von 7 Zeichen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Match-UUID </a:t>
            </a:r>
            <a:r>
              <a:rPr b="1" lang="de" sz="15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/match/[UUID]</a:t>
            </a:r>
            <a:endParaRPr b="1" sz="1500">
              <a:solidFill>
                <a:schemeClr val="lt1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Eindeutige Zuordnung ohne Dopplung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Ermöglicht Langzeit-Aufbewahrung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 rotWithShape="1">
          <a:blip r:embed="rId3">
            <a:alphaModFix/>
          </a:blip>
          <a:srcRect b="0" l="4425" r="0" t="0"/>
          <a:stretch/>
        </p:blipFill>
        <p:spPr>
          <a:xfrm>
            <a:off x="4572000" y="2262415"/>
            <a:ext cx="4563599" cy="30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 rotWithShape="1">
          <a:blip r:embed="rId4">
            <a:alphaModFix/>
          </a:blip>
          <a:srcRect b="0" l="4425" r="0" t="0"/>
          <a:stretch/>
        </p:blipFill>
        <p:spPr>
          <a:xfrm>
            <a:off x="4572075" y="3375275"/>
            <a:ext cx="4563446" cy="3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300" y="500925"/>
            <a:ext cx="3704400" cy="1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Persistenz von Daten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8300" y="1423350"/>
            <a:ext cx="45636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Mit registrierten Spielern: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Speicherung in RAM (Echtzeit)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Speicherung in Datenbank (Asynchron)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Bei Disconnect: Spiel bleibt erhalten, mit UUID fortsetzbar</a:t>
            </a:r>
            <a:b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</a:b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Nur Gastspieler: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Nur im RAM-Speicher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Bei Disconnect: Match nach Countdown beendet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chemeClr val="dk1"/>
                </a:highlight>
              </a:rPr>
              <a:t>→ Lobbies und Ressourcen frei</a:t>
            </a:r>
            <a:endParaRPr sz="1500">
              <a:solidFill>
                <a:schemeClr val="accent2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139" name="Google Shape;139;p23" title="ramanddb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070" y="1329850"/>
            <a:ext cx="3234393" cy="9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ramonly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070" y="2799550"/>
            <a:ext cx="3234401" cy="9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300" y="500925"/>
            <a:ext cx="4260600" cy="1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br>
              <a:rPr lang="de"/>
            </a:br>
            <a:r>
              <a:rPr lang="de" sz="2000">
                <a:latin typeface="Merriweather Light"/>
                <a:ea typeface="Merriweather Light"/>
                <a:cs typeface="Merriweather Light"/>
                <a:sym typeface="Merriweather Light"/>
              </a:rPr>
              <a:t>	Qualitäten, die wir verfolgen</a:t>
            </a:r>
            <a:endParaRPr sz="20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graphicFrame>
        <p:nvGraphicFramePr>
          <p:cNvPr id="146" name="Google Shape;146;p24"/>
          <p:cNvGraphicFramePr/>
          <p:nvPr/>
        </p:nvGraphicFramePr>
        <p:xfrm>
          <a:off x="156175" y="181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{3949AB95-6C66-4B24-9014-133E2924CBF4}</a:tableStyleId>
              </a:tblPr>
              <a:tblGrid>
                <a:gridCol w="1483425"/>
                <a:gridCol w="3024400"/>
                <a:gridCol w="4323825"/>
              </a:tblGrid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Attribut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Gründe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Umsetzung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Modifiability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Neue Features einfach hinzufügen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Abstraktion in Klassen/Interfaces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Interoperability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Verbindungsabbruch erkannt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Heartbeat, Timeout-Erkennung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Intuitive Steuerung, Fehler-Feedback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Klare UI, aussagekräftige Error-Messages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Efficiency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Ressourcenschonung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Caching, Lobby-Freigabe, RAM-Cleanup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Availability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Spam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-Schutz für Lobbies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Token-Caching, Request-Limits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Maintainability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Fehler-Tracking &amp; Updates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Logging, CI/CD (GitHub Pages, Container-Neustart)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ctrTitle"/>
          </p:nvPr>
        </p:nvSpPr>
        <p:spPr>
          <a:xfrm>
            <a:off x="1439800" y="1215175"/>
            <a:ext cx="63456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Entwicklungsplattformen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und -tools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575" y="1973988"/>
            <a:ext cx="1195525" cy="11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>
            <p:ph idx="2" type="body"/>
          </p:nvPr>
        </p:nvSpPr>
        <p:spPr>
          <a:xfrm>
            <a:off x="152775" y="1249075"/>
            <a:ext cx="4310400" cy="38943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GitHub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Git-Integration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Repositories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Actions (CI/CD)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GitHub Pages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Frontend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Render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Backend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Neon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Datenbank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sp>
        <p:nvSpPr>
          <p:cNvPr id="158" name="Google Shape;158;p26"/>
          <p:cNvSpPr txBox="1"/>
          <p:nvPr>
            <p:ph type="title"/>
          </p:nvPr>
        </p:nvSpPr>
        <p:spPr>
          <a:xfrm>
            <a:off x="311300" y="500925"/>
            <a:ext cx="37044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Plattformen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575" y="1973988"/>
            <a:ext cx="1195525" cy="11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>
            <p:ph idx="2" type="body"/>
          </p:nvPr>
        </p:nvSpPr>
        <p:spPr>
          <a:xfrm>
            <a:off x="152800" y="1260650"/>
            <a:ext cx="4310400" cy="43710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Versionskontrolle: Git bzw. GitHub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Frontend-Development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VS-Code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Bun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Backend-Development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VS-Code &amp; IntelliJ IDEA Community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Gradle &amp; Docker (Testumgebung, Container-Deployment)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Curl, http-Files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Testen der Endpunkte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311300" y="500925"/>
            <a:ext cx="3704400" cy="9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Tools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ctrTitle"/>
          </p:nvPr>
        </p:nvSpPr>
        <p:spPr>
          <a:xfrm>
            <a:off x="1559600" y="289725"/>
            <a:ext cx="62706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Frameworks und Libraries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1" name="Google Shape;171;p28"/>
          <p:cNvSpPr txBox="1"/>
          <p:nvPr>
            <p:ph type="ctrTitle"/>
          </p:nvPr>
        </p:nvSpPr>
        <p:spPr>
          <a:xfrm>
            <a:off x="1712000" y="1357125"/>
            <a:ext cx="6270600" cy="17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React</a:t>
            </a:r>
            <a:endParaRPr b="1"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react-konva</a:t>
            </a:r>
            <a:endParaRPr b="1"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react-select</a:t>
            </a:r>
            <a:endParaRPr b="1"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b="1" lang="de" sz="2400">
                <a:solidFill>
                  <a:schemeClr val="lt2"/>
                </a:solidFill>
              </a:rPr>
              <a:t>Spring Boot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</a:t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Framework für Frontend-Entwicklung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Erweiterbar mit vielen Libraries</a:t>
            </a:r>
            <a:endParaRPr sz="1500"/>
          </a:p>
        </p:txBody>
      </p:sp>
      <p:pic>
        <p:nvPicPr>
          <p:cNvPr id="183" name="Google Shape;183;p30" title="logo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400" y="1750101"/>
            <a:ext cx="1936025" cy="17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react.dev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→ High-Performance Canvas Framework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500"/>
              <a:t>Erleichtert: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User-Interaktion mit einem Canvas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Rendern / Zeichnen von </a:t>
            </a:r>
            <a:r>
              <a:rPr lang="de" sz="1500"/>
              <a:t>„Shapes</a:t>
            </a:r>
            <a:r>
              <a:rPr lang="de" sz="1500"/>
              <a:t>“</a:t>
            </a:r>
            <a:endParaRPr sz="1500"/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875" y="1060088"/>
            <a:ext cx="3023325" cy="30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https://konvajs.org/docs/react/index.html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br>
              <a:rPr lang="de"/>
            </a:br>
            <a:r>
              <a:rPr i="1" lang="de"/>
              <a:t>Funktionsweise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0" y="1564425"/>
            <a:ext cx="3745500" cy="3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500"/>
              <a:t>Stage</a:t>
            </a:r>
            <a:r>
              <a:rPr lang="de" sz="1500"/>
              <a:t>:</a:t>
            </a:r>
            <a:br>
              <a:rPr lang="de" sz="1500"/>
            </a:br>
            <a:r>
              <a:rPr lang="de" sz="1500"/>
              <a:t>	Root Container - definiert den</a:t>
            </a:r>
            <a:br>
              <a:rPr lang="de" sz="1500"/>
            </a:br>
            <a:r>
              <a:rPr lang="de" sz="1500"/>
              <a:t>	gesamten Zeichenbereich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/>
              <a:t>Layer</a:t>
            </a:r>
            <a:r>
              <a:rPr lang="de" sz="1500"/>
              <a:t>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Enthält Shapes zum zeichnen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Auch für </a:t>
            </a:r>
            <a:r>
              <a:rPr lang="de" sz="1500"/>
              <a:t>Performance Optimierungen</a:t>
            </a:r>
            <a:endParaRPr sz="1500"/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500" y="101150"/>
            <a:ext cx="2794800" cy="46729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https://konvajs.org/docs/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r>
              <a:rPr lang="de"/>
              <a:t>  </a:t>
            </a:r>
            <a:r>
              <a:rPr i="1" lang="de"/>
              <a:t>Codebeispiel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200" y="1277025"/>
            <a:ext cx="7469598" cy="38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  </a:t>
            </a:r>
            <a:r>
              <a:rPr i="1" lang="de"/>
              <a:t>Codebeispiel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600" y="1277025"/>
            <a:ext cx="7492800" cy="38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ctrTitle"/>
          </p:nvPr>
        </p:nvSpPr>
        <p:spPr>
          <a:xfrm>
            <a:off x="1256100" y="1407575"/>
            <a:ext cx="6631800" cy="1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Match Page implementation mit</a:t>
            </a:r>
            <a:br>
              <a:rPr lang="de"/>
            </a:br>
            <a:r>
              <a:rPr lang="de"/>
              <a:t>react-konva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Match Page</a:t>
            </a:r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375" y="334500"/>
            <a:ext cx="4825226" cy="447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8300" y="1423350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→ Gesamte Seite, auf der gespielt wird.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	</a:t>
            </a:r>
            <a:endParaRPr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rgbClr val="31394D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375" y="334500"/>
            <a:ext cx="4825226" cy="447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8300" y="1423350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&lt;Stage&gt;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	&lt;Layer&gt; 	“game_field”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		</a:t>
            </a:r>
            <a:r>
              <a:rPr lang="de" sz="1500">
                <a:highlight>
                  <a:srgbClr val="31394D"/>
                </a:highlight>
              </a:rPr>
              <a:t>Shapes:</a:t>
            </a:r>
            <a:endParaRPr sz="1500">
              <a:highlight>
                <a:srgbClr val="31394D"/>
              </a:highlight>
            </a:endParaRPr>
          </a:p>
          <a:p>
            <a:pPr indent="-32385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solidFill>
                  <a:srgbClr val="6AA84F"/>
                </a:solidFill>
                <a:highlight>
                  <a:srgbClr val="31394D"/>
                </a:highlight>
              </a:rPr>
              <a:t>Hexagons</a:t>
            </a:r>
            <a:endParaRPr sz="1500">
              <a:highlight>
                <a:srgbClr val="31394D"/>
              </a:highlight>
            </a:endParaRPr>
          </a:p>
          <a:p>
            <a:pPr indent="-32385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solidFill>
                  <a:srgbClr val="4A86E8"/>
                </a:solidFill>
                <a:highlight>
                  <a:srgbClr val="31394D"/>
                </a:highlight>
              </a:rPr>
              <a:t>Gebäude - Hitboxen</a:t>
            </a:r>
            <a:endParaRPr sz="1500">
              <a:highlight>
                <a:srgbClr val="31394D"/>
              </a:highlight>
            </a:endParaRPr>
          </a:p>
          <a:p>
            <a:pPr indent="-323850" lvl="0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solidFill>
                  <a:srgbClr val="BF9000"/>
                </a:solidFill>
                <a:highlight>
                  <a:srgbClr val="31394D"/>
                </a:highlight>
              </a:rPr>
              <a:t>Straßen - Hitboxen</a:t>
            </a:r>
            <a:endParaRPr sz="1500">
              <a:solidFill>
                <a:srgbClr val="BF9000"/>
              </a:solidFill>
              <a:highlight>
                <a:srgbClr val="31394D"/>
              </a:highlight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&lt;Layer/&gt;</a:t>
            </a:r>
            <a:endParaRPr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&lt;Stage/&gt;</a:t>
            </a:r>
            <a:br>
              <a:rPr b="1" lang="de" sz="1500">
                <a:highlight>
                  <a:srgbClr val="31394D"/>
                </a:highlight>
              </a:rPr>
            </a:br>
            <a:r>
              <a:rPr b="1" lang="de" sz="1500">
                <a:highlight>
                  <a:srgbClr val="31394D"/>
                </a:highlight>
              </a:rPr>
              <a:t>	</a:t>
            </a:r>
            <a:endParaRPr b="1"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31394D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Layers</a:t>
            </a:r>
            <a:endParaRPr/>
          </a:p>
        </p:txBody>
      </p:sp>
      <p:pic>
        <p:nvPicPr>
          <p:cNvPr id="242" name="Google Shape;2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500" y="308497"/>
            <a:ext cx="5398501" cy="45265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8300" y="1423350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Warum mehrere Layers?</a:t>
            </a:r>
            <a:endParaRPr sz="1500"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>
                <a:highlight>
                  <a:srgbClr val="31394D"/>
                </a:highlight>
              </a:rPr>
              <a:t>Gui und Spielfeld voneinander</a:t>
            </a:r>
            <a:br>
              <a:rPr lang="de" sz="1500">
                <a:highlight>
                  <a:srgbClr val="31394D"/>
                </a:highlight>
              </a:rPr>
            </a:br>
            <a:r>
              <a:rPr lang="de" sz="1500">
                <a:highlight>
                  <a:srgbClr val="31394D"/>
                </a:highlight>
              </a:rPr>
              <a:t>trennen</a:t>
            </a:r>
            <a:endParaRPr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highlight>
                  <a:srgbClr val="31394D"/>
                </a:highlight>
              </a:rPr>
              <a:t>=&gt; Ermöglicht </a:t>
            </a:r>
            <a:r>
              <a:rPr b="1" lang="de" sz="1500">
                <a:highlight>
                  <a:srgbClr val="31394D"/>
                </a:highlight>
              </a:rPr>
              <a:t>Kamerabewegung</a:t>
            </a:r>
            <a:br>
              <a:rPr b="1" lang="de" sz="1500">
                <a:highlight>
                  <a:srgbClr val="31394D"/>
                </a:highlight>
              </a:rPr>
            </a:br>
            <a:r>
              <a:rPr b="1" lang="de" sz="1500">
                <a:highlight>
                  <a:srgbClr val="31394D"/>
                </a:highlight>
              </a:rPr>
              <a:t>	</a:t>
            </a:r>
            <a:endParaRPr b="1" sz="15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31394D"/>
              </a:highlight>
            </a:endParaRPr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3766950" y="-397575"/>
            <a:ext cx="53556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/>
              <a:t>Altes Mockup</a:t>
            </a:r>
            <a:endParaRPr b="1" sz="2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Layers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0" y="0"/>
            <a:ext cx="3761700" cy="15399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highlight>
                  <a:srgbClr val="31394D"/>
                </a:highlight>
              </a:rPr>
              <a:t>Wie Bewege ich die Kamera??</a:t>
            </a:r>
            <a:br>
              <a:rPr b="1" lang="de" sz="1800">
                <a:highlight>
                  <a:srgbClr val="31394D"/>
                </a:highlight>
              </a:rPr>
            </a:br>
            <a:r>
              <a:rPr b="1" lang="de" sz="1800">
                <a:highlight>
                  <a:srgbClr val="31394D"/>
                </a:highlight>
              </a:rPr>
              <a:t>	</a:t>
            </a:r>
            <a:endParaRPr b="1" sz="1800"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31394D"/>
              </a:highlight>
            </a:endParaRPr>
          </a:p>
        </p:txBody>
      </p:sp>
      <p:pic>
        <p:nvPicPr>
          <p:cNvPr id="251" name="Google Shape;251;p40" title="vecteezy_video-camera-symbol-png-video-camera-icon-symbol_198792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2166850"/>
            <a:ext cx="3329152" cy="20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500" y="308497"/>
            <a:ext cx="5398501" cy="45265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3766950" y="-397575"/>
            <a:ext cx="53556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/>
              <a:t>Altes Mockup</a:t>
            </a:r>
            <a:endParaRPr b="1" sz="2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311725" y="500925"/>
            <a:ext cx="33576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react-konva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Kamerabewegung</a:t>
            </a:r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050" y="640388"/>
            <a:ext cx="5017625" cy="38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1"/>
          <p:cNvSpPr txBox="1"/>
          <p:nvPr>
            <p:ph idx="1" type="body"/>
          </p:nvPr>
        </p:nvSpPr>
        <p:spPr>
          <a:xfrm>
            <a:off x="311725" y="2026225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" sz="1500"/>
              <a:t>Spielfeld - Layer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" sz="1500"/>
              <a:t>GUI - Layer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react-select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react-select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Dropdown Select-Menüs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Lobby Seite: Konfiguration + Auswahl Mods</a:t>
            </a:r>
            <a:endParaRPr sz="1500"/>
          </a:p>
        </p:txBody>
      </p:sp>
      <p:pic>
        <p:nvPicPr>
          <p:cNvPr id="272" name="Google Shape;2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550" y="1619250"/>
            <a:ext cx="2412900" cy="2173500"/>
          </a:xfrm>
          <a:prstGeom prst="roundRect">
            <a:avLst>
              <a:gd fmla="val 690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Spring Boot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Spring Boot</a:t>
            </a:r>
            <a:endParaRPr/>
          </a:p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0" y="1422750"/>
            <a:ext cx="37455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Java Framework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Backend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/>
              <a:t>DB-Zugriff, Verwaltung User/Lobbies/…, Authentifizierung/Autorisierung, CORS, …</a:t>
            </a:r>
            <a:endParaRPr sz="1500"/>
          </a:p>
        </p:txBody>
      </p:sp>
      <p:pic>
        <p:nvPicPr>
          <p:cNvPr id="284" name="Google Shape;284;p45" title="spring-bo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100" y="1763624"/>
            <a:ext cx="1799800" cy="16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5"/>
          <p:cNvSpPr txBox="1"/>
          <p:nvPr/>
        </p:nvSpPr>
        <p:spPr>
          <a:xfrm>
            <a:off x="3745500" y="4774050"/>
            <a:ext cx="53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https://spring.io/projects/spring-boot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Live-Demo</a:t>
            </a:r>
            <a:r>
              <a:rPr lang="de"/>
              <a:t>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Projektmanagement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311300" y="500925"/>
            <a:ext cx="37044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Jira</a:t>
            </a:r>
            <a:endParaRPr/>
          </a:p>
        </p:txBody>
      </p:sp>
      <p:sp>
        <p:nvSpPr>
          <p:cNvPr id="301" name="Google Shape;301;p48"/>
          <p:cNvSpPr txBox="1"/>
          <p:nvPr>
            <p:ph idx="2" type="body"/>
          </p:nvPr>
        </p:nvSpPr>
        <p:spPr>
          <a:xfrm>
            <a:off x="8300" y="1342425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Stories, Bugs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Kanban Board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Zuweisung, Prioritäten, 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Time Tracking</a:t>
            </a: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, Story Points, Einordnung in Phasen/Workflows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Automations: Erfasste Zeit pro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Person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Phase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Workflow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450" y="2140174"/>
            <a:ext cx="2670025" cy="8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8"/>
          <p:cNvSpPr txBox="1"/>
          <p:nvPr/>
        </p:nvSpPr>
        <p:spPr>
          <a:xfrm>
            <a:off x="4572000" y="477420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https://atlassian.design/foundations/logos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Scrum</a:t>
            </a:r>
            <a:endParaRPr/>
          </a:p>
        </p:txBody>
      </p:sp>
      <p:pic>
        <p:nvPicPr>
          <p:cNvPr id="309" name="Google Shape;30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1575" y="1973988"/>
            <a:ext cx="1195525" cy="11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9"/>
          <p:cNvSpPr txBox="1"/>
          <p:nvPr>
            <p:ph idx="2" type="body"/>
          </p:nvPr>
        </p:nvSpPr>
        <p:spPr>
          <a:xfrm>
            <a:off x="8300" y="1342425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1-wöchige Sprints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Events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Planning: Dienstags nach der Vorlesung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Dailies: Donnerstag/Samstag um 20 Uhr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Review, Retro: Montag 20 Uhr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>
            <p:ph type="ctrTitle"/>
          </p:nvPr>
        </p:nvSpPr>
        <p:spPr>
          <a:xfrm>
            <a:off x="1803050" y="1391300"/>
            <a:ext cx="52680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Learnings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Learnings</a:t>
            </a:r>
            <a:endParaRPr/>
          </a:p>
        </p:txBody>
      </p:sp>
      <p:sp>
        <p:nvSpPr>
          <p:cNvPr id="321" name="Google Shape;321;p51"/>
          <p:cNvSpPr txBox="1"/>
          <p:nvPr>
            <p:ph idx="2" type="body"/>
          </p:nvPr>
        </p:nvSpPr>
        <p:spPr>
          <a:xfrm>
            <a:off x="8300" y="1342425"/>
            <a:ext cx="43104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3420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Dokumentieren ist wichtig, sodass: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Alle auf derselben Page bleiben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Nichts vergessen wird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de" sz="1500">
                <a:solidFill>
                  <a:schemeClr val="accent2"/>
                </a:solidFill>
                <a:highlight>
                  <a:srgbClr val="31394D"/>
                </a:highlight>
              </a:rPr>
              <a:t>Entscheidungen später wieder nachvollzogen werden können</a:t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2"/>
              </a:solidFill>
              <a:highlight>
                <a:srgbClr val="31394D"/>
              </a:highlight>
            </a:endParaRPr>
          </a:p>
        </p:txBody>
      </p:sp>
      <p:pic>
        <p:nvPicPr>
          <p:cNvPr id="322" name="Google Shape;32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975" y="1270376"/>
            <a:ext cx="3913674" cy="2602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3" name="Google Shape;323;p51"/>
          <p:cNvSpPr txBox="1"/>
          <p:nvPr/>
        </p:nvSpPr>
        <p:spPr>
          <a:xfrm>
            <a:off x="4574813" y="4404600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Quelle: </a:t>
            </a:r>
            <a:r>
              <a:rPr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https://foto.wuestenigel.com/wp-content/uploads/api/lesebrille-auf-einem-aufgeschlagenen-buch-vor-weiszem-hintergrund.jpeg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type="ctrTitle"/>
          </p:nvPr>
        </p:nvSpPr>
        <p:spPr>
          <a:xfrm>
            <a:off x="1598550" y="1313425"/>
            <a:ext cx="5946900" cy="13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Danke für eure Aufmerksamkeit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