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y="5143500" cx="9144000"/>
  <p:notesSz cx="6858000" cy="9144000"/>
  <p:embeddedFontLst>
    <p:embeddedFont>
      <p:font typeface="Roboto"/>
      <p:regular r:id="rId41"/>
      <p:bold r:id="rId42"/>
      <p:italic r:id="rId43"/>
      <p:boldItalic r:id="rId44"/>
    </p:embeddedFont>
    <p:embeddedFont>
      <p:font typeface="Merriweather Light"/>
      <p:regular r:id="rId45"/>
      <p:bold r:id="rId46"/>
      <p:italic r:id="rId47"/>
      <p:boldItalic r:id="rId48"/>
    </p:embeddedFont>
    <p:embeddedFont>
      <p:font typeface="Merriweather"/>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32A8173-9370-4520-85D7-D9BBA490A5A1}">
  <a:tblStyle styleId="{832A8173-9370-4520-85D7-D9BBA490A5A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87CC9A44-26F5-41E7-8740-DC66E2CEFB26}" styleName="Table_1">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F4BED10-2305-47ED-BE81-9D226BAEEF82}" styleName="Table_2">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font" Target="fonts/Roboto-bold.fntdata"/><Relationship Id="rId41" Type="http://schemas.openxmlformats.org/officeDocument/2006/relationships/font" Target="fonts/Roboto-regular.fntdata"/><Relationship Id="rId44" Type="http://schemas.openxmlformats.org/officeDocument/2006/relationships/font" Target="fonts/Roboto-boldItalic.fntdata"/><Relationship Id="rId43" Type="http://schemas.openxmlformats.org/officeDocument/2006/relationships/font" Target="fonts/Roboto-italic.fntdata"/><Relationship Id="rId46" Type="http://schemas.openxmlformats.org/officeDocument/2006/relationships/font" Target="fonts/MerriweatherLight-bold.fntdata"/><Relationship Id="rId45" Type="http://schemas.openxmlformats.org/officeDocument/2006/relationships/font" Target="fonts/MerriweatherLight-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MerriweatherLight-boldItalic.fntdata"/><Relationship Id="rId47" Type="http://schemas.openxmlformats.org/officeDocument/2006/relationships/font" Target="fonts/MerriweatherLight-italic.fntdata"/><Relationship Id="rId49" Type="http://schemas.openxmlformats.org/officeDocument/2006/relationships/font" Target="fonts/Merriweather-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Merriweather-italic.fntdata"/><Relationship Id="rId50" Type="http://schemas.openxmlformats.org/officeDocument/2006/relationships/font" Target="fonts/Merriweather-bold.fntdata"/><Relationship Id="rId52" Type="http://schemas.openxmlformats.org/officeDocument/2006/relationships/font" Target="fonts/Merriweather-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ae7cd70b34_3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ae7cd70b34_3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ae7700c53d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ae7700c53d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ae7700c53d_0_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ae7700c53d_0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ae7cd70b34_2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ae7cd70b34_2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ae7cd70b34_5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ae7cd70b34_5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ae7cd70b34_3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ae7cd70b34_3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ae7cd70b34_5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ae7cd70b34_5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ae7cd70b34_5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ae7cd70b34_5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e7cd70b34_5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ae7cd70b34_5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ae7cd70b34_5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ae7cd70b34_5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ae7cd70b34_3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ae7cd70b34_3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75cfed85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e75cfed85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e75cfed857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e75cfed857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ae7cd70b34_3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ae7cd70b34_3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ae7700c53d_0_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ae7700c53d_0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ae7cd70b34_3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ae7cd70b34_3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e75cfed857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e75cfed857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ae7cd70b34_3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ae7cd70b34_3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ae7cd70b34_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ae7cd70b34_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75cfed857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e75cfed857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e75cfed857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e75cfed857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e75cfed85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e75cfed85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e75cfed857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e75cfed857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e75cfed857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e75cfed857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ae7cd70b34_2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ae7cd70b34_2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e75cfed857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e75cfed857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e75cfed857_4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e75cfed857_4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e75cfed857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e75cfed857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e75cfed857_2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e75cfed857_2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ae7cd70b34_3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ae7cd70b34_3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ae7cd70b34_3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ae7cd70b34_3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e75cfed85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e75cfed85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e75cfed857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e75cfed857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de"/>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 Id="rId3" Type="http://schemas.openxmlformats.org/officeDocument/2006/relationships/hyperlink" Target="https://cdn.sanity.io/files/hvk0tap5/production/" TargetMode="External"/><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0.xml"/><Relationship Id="rId3"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sz="3800"/>
              <a:t>Hexfields: Dominion</a:t>
            </a:r>
            <a:endParaRPr sz="3800"/>
          </a:p>
          <a:p>
            <a:pPr indent="0" lvl="0" marL="0" rtl="0" algn="l">
              <a:spcBef>
                <a:spcPts val="0"/>
              </a:spcBef>
              <a:spcAft>
                <a:spcPts val="0"/>
              </a:spcAft>
              <a:buNone/>
            </a:pPr>
            <a:r>
              <a:rPr lang="de" sz="2000"/>
              <a:t>- Abschlusspräsentation</a:t>
            </a:r>
            <a:r>
              <a:rPr lang="de" sz="2000"/>
              <a:t> am 03.06.2025 -</a:t>
            </a:r>
            <a:endParaRPr sz="2000"/>
          </a:p>
        </p:txBody>
      </p:sp>
      <p:sp>
        <p:nvSpPr>
          <p:cNvPr id="65" name="Google Shape;65;p13"/>
          <p:cNvSpPr txBox="1"/>
          <p:nvPr>
            <p:ph idx="1" type="subTitle"/>
          </p:nvPr>
        </p:nvSpPr>
        <p:spPr>
          <a:xfrm>
            <a:off x="5492050" y="4002500"/>
            <a:ext cx="3555900" cy="1078500"/>
          </a:xfrm>
          <a:prstGeom prst="rect">
            <a:avLst/>
          </a:prstGeom>
        </p:spPr>
        <p:txBody>
          <a:bodyPr anchorCtr="0" anchor="t" bIns="91425" lIns="91425" spcFirstLastPara="1" rIns="91425" wrap="square" tIns="91425">
            <a:normAutofit fontScale="92500" lnSpcReduction="20000"/>
          </a:bodyPr>
          <a:lstStyle/>
          <a:p>
            <a:pPr indent="0" lvl="0" marL="0" rtl="0" algn="l">
              <a:lnSpc>
                <a:spcPct val="150000"/>
              </a:lnSpc>
              <a:spcBef>
                <a:spcPts val="0"/>
              </a:spcBef>
              <a:spcAft>
                <a:spcPts val="0"/>
              </a:spcAft>
              <a:buNone/>
            </a:pPr>
            <a:r>
              <a:rPr i="1" lang="de" sz="1184">
                <a:solidFill>
                  <a:srgbClr val="CCCCCC"/>
                </a:solidFill>
              </a:rPr>
              <a:t>Software Engineering Projekt von</a:t>
            </a:r>
            <a:endParaRPr i="1" sz="1184">
              <a:solidFill>
                <a:srgbClr val="CCCCCC"/>
              </a:solidFill>
            </a:endParaRPr>
          </a:p>
          <a:p>
            <a:pPr indent="0" lvl="0" marL="0" rtl="0" algn="l">
              <a:lnSpc>
                <a:spcPct val="115000"/>
              </a:lnSpc>
              <a:spcBef>
                <a:spcPts val="0"/>
              </a:spcBef>
              <a:spcAft>
                <a:spcPts val="0"/>
              </a:spcAft>
              <a:buNone/>
            </a:pPr>
            <a:r>
              <a:rPr lang="de">
                <a:solidFill>
                  <a:srgbClr val="CCCCCC"/>
                </a:solidFill>
              </a:rPr>
              <a:t>Alexander Horst 	(Matrnr. 1126225)</a:t>
            </a:r>
            <a:endParaRPr>
              <a:solidFill>
                <a:srgbClr val="CCCCCC"/>
              </a:solidFill>
            </a:endParaRPr>
          </a:p>
          <a:p>
            <a:pPr indent="0" lvl="0" marL="0" rtl="0" algn="l">
              <a:lnSpc>
                <a:spcPct val="115000"/>
              </a:lnSpc>
              <a:spcBef>
                <a:spcPts val="0"/>
              </a:spcBef>
              <a:spcAft>
                <a:spcPts val="0"/>
              </a:spcAft>
              <a:buNone/>
            </a:pPr>
            <a:r>
              <a:rPr lang="de">
                <a:solidFill>
                  <a:srgbClr val="CCCCCC"/>
                </a:solidFill>
              </a:rPr>
              <a:t>Marcel Steinle 		(Matrnr. 6322372)</a:t>
            </a:r>
            <a:endParaRPr>
              <a:solidFill>
                <a:srgbClr val="CCCCCC"/>
              </a:solidFill>
            </a:endParaRPr>
          </a:p>
          <a:p>
            <a:pPr indent="0" lvl="0" marL="0" rtl="0" algn="l">
              <a:lnSpc>
                <a:spcPct val="115000"/>
              </a:lnSpc>
              <a:spcBef>
                <a:spcPts val="0"/>
              </a:spcBef>
              <a:spcAft>
                <a:spcPts val="0"/>
              </a:spcAft>
              <a:buNone/>
            </a:pPr>
            <a:r>
              <a:rPr lang="de">
                <a:solidFill>
                  <a:srgbClr val="CCCCCC"/>
                </a:solidFill>
              </a:rPr>
              <a:t>Jona Lauber	 	(Matrnr. 9780567)</a:t>
            </a:r>
            <a:endParaRPr>
              <a:solidFill>
                <a:srgbClr val="CCCCCC"/>
              </a:solidFill>
            </a:endParaRPr>
          </a:p>
        </p:txBody>
      </p:sp>
      <p:pic>
        <p:nvPicPr>
          <p:cNvPr id="66" name="Google Shape;66;p13"/>
          <p:cNvPicPr preferRelativeResize="0"/>
          <p:nvPr/>
        </p:nvPicPr>
        <p:blipFill>
          <a:blip r:embed="rId3">
            <a:alphaModFix/>
          </a:blip>
          <a:stretch>
            <a:fillRect/>
          </a:stretch>
        </p:blipFill>
        <p:spPr>
          <a:xfrm>
            <a:off x="5980025" y="684504"/>
            <a:ext cx="992925" cy="9929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4"/>
          <p:cNvSpPr txBox="1"/>
          <p:nvPr>
            <p:ph type="title"/>
          </p:nvPr>
        </p:nvSpPr>
        <p:spPr>
          <a:xfrm>
            <a:off x="311700" y="402675"/>
            <a:ext cx="8520600" cy="623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de"/>
              <a:t>Gliederung</a:t>
            </a:r>
            <a:endParaRPr/>
          </a:p>
        </p:txBody>
      </p:sp>
      <p:sp>
        <p:nvSpPr>
          <p:cNvPr id="72" name="Google Shape;72;p14"/>
          <p:cNvSpPr txBox="1"/>
          <p:nvPr>
            <p:ph idx="4294967295" type="body"/>
          </p:nvPr>
        </p:nvSpPr>
        <p:spPr>
          <a:xfrm>
            <a:off x="2040825" y="1614450"/>
            <a:ext cx="5241900" cy="32889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Clr>
                <a:srgbClr val="000000"/>
              </a:buClr>
              <a:buSzPts val="2200"/>
              <a:buAutoNum type="arabicPeriod"/>
            </a:pPr>
            <a:r>
              <a:rPr lang="de" sz="2200">
                <a:solidFill>
                  <a:srgbClr val="000000"/>
                </a:solidFill>
              </a:rPr>
              <a:t>Vision</a:t>
            </a:r>
            <a:endParaRPr sz="2200">
              <a:solidFill>
                <a:srgbClr val="000000"/>
              </a:solidFill>
            </a:endParaRPr>
          </a:p>
          <a:p>
            <a:pPr indent="-368300" lvl="0" marL="457200" rtl="0" algn="l">
              <a:spcBef>
                <a:spcPts val="0"/>
              </a:spcBef>
              <a:spcAft>
                <a:spcPts val="0"/>
              </a:spcAft>
              <a:buClr>
                <a:srgbClr val="000000"/>
              </a:buClr>
              <a:buSzPts val="2200"/>
              <a:buAutoNum type="arabicPeriod"/>
            </a:pPr>
            <a:r>
              <a:rPr lang="de" sz="2200">
                <a:solidFill>
                  <a:srgbClr val="000000"/>
                </a:solidFill>
              </a:rPr>
              <a:t>Architektur</a:t>
            </a:r>
            <a:endParaRPr sz="2200">
              <a:solidFill>
                <a:srgbClr val="000000"/>
              </a:solidFill>
            </a:endParaRPr>
          </a:p>
          <a:p>
            <a:pPr indent="-368300" lvl="0" marL="457200" rtl="0" algn="l">
              <a:spcBef>
                <a:spcPts val="0"/>
              </a:spcBef>
              <a:spcAft>
                <a:spcPts val="0"/>
              </a:spcAft>
              <a:buClr>
                <a:srgbClr val="000000"/>
              </a:buClr>
              <a:buSzPts val="2200"/>
              <a:buAutoNum type="arabicPeriod"/>
            </a:pPr>
            <a:r>
              <a:rPr lang="de" sz="2200">
                <a:solidFill>
                  <a:srgbClr val="000000"/>
                </a:solidFill>
              </a:rPr>
              <a:t>Tech-Stack</a:t>
            </a:r>
            <a:endParaRPr sz="2200">
              <a:solidFill>
                <a:srgbClr val="000000"/>
              </a:solidFill>
            </a:endParaRPr>
          </a:p>
          <a:p>
            <a:pPr indent="-368300" lvl="0" marL="457200" rtl="0" algn="l">
              <a:spcBef>
                <a:spcPts val="0"/>
              </a:spcBef>
              <a:spcAft>
                <a:spcPts val="0"/>
              </a:spcAft>
              <a:buClr>
                <a:srgbClr val="000000"/>
              </a:buClr>
              <a:buSzPts val="2200"/>
              <a:buAutoNum type="arabicPeriod"/>
            </a:pPr>
            <a:r>
              <a:rPr lang="de" sz="2200">
                <a:solidFill>
                  <a:srgbClr val="000000"/>
                </a:solidFill>
              </a:rPr>
              <a:t>Tests und Metriken</a:t>
            </a:r>
            <a:endParaRPr sz="2200">
              <a:solidFill>
                <a:srgbClr val="000000"/>
              </a:solidFill>
            </a:endParaRPr>
          </a:p>
          <a:p>
            <a:pPr indent="-368300" lvl="0" marL="457200" rtl="0" algn="l">
              <a:spcBef>
                <a:spcPts val="0"/>
              </a:spcBef>
              <a:spcAft>
                <a:spcPts val="0"/>
              </a:spcAft>
              <a:buClr>
                <a:srgbClr val="000000"/>
              </a:buClr>
              <a:buSzPts val="2200"/>
              <a:buAutoNum type="arabicPeriod"/>
            </a:pPr>
            <a:r>
              <a:rPr lang="de" sz="2200">
                <a:solidFill>
                  <a:srgbClr val="000000"/>
                </a:solidFill>
              </a:rPr>
              <a:t>CI/CD</a:t>
            </a:r>
            <a:endParaRPr sz="2200">
              <a:solidFill>
                <a:srgbClr val="000000"/>
              </a:solidFill>
            </a:endParaRPr>
          </a:p>
          <a:p>
            <a:pPr indent="-368300" lvl="0" marL="457200" rtl="0" algn="l">
              <a:spcBef>
                <a:spcPts val="0"/>
              </a:spcBef>
              <a:spcAft>
                <a:spcPts val="0"/>
              </a:spcAft>
              <a:buClr>
                <a:srgbClr val="000000"/>
              </a:buClr>
              <a:buSzPts val="2200"/>
              <a:buAutoNum type="arabicPeriod"/>
            </a:pPr>
            <a:r>
              <a:rPr lang="de" sz="2200">
                <a:solidFill>
                  <a:srgbClr val="000000"/>
                </a:solidFill>
              </a:rPr>
              <a:t>Projektmanagement</a:t>
            </a:r>
            <a:endParaRPr sz="2200">
              <a:solidFill>
                <a:srgbClr val="000000"/>
              </a:solidFill>
            </a:endParaRPr>
          </a:p>
          <a:p>
            <a:pPr indent="-368300" lvl="0" marL="457200" rtl="0" algn="l">
              <a:spcBef>
                <a:spcPts val="0"/>
              </a:spcBef>
              <a:spcAft>
                <a:spcPts val="0"/>
              </a:spcAft>
              <a:buClr>
                <a:srgbClr val="000000"/>
              </a:buClr>
              <a:buSzPts val="2200"/>
              <a:buAutoNum type="arabicPeriod"/>
            </a:pPr>
            <a:r>
              <a:rPr lang="de" sz="2200">
                <a:solidFill>
                  <a:srgbClr val="000000"/>
                </a:solidFill>
              </a:rPr>
              <a:t>Learnings</a:t>
            </a:r>
            <a:endParaRPr sz="2200">
              <a:solidFill>
                <a:srgbClr val="000000"/>
              </a:solidFill>
            </a:endParaRPr>
          </a:p>
          <a:p>
            <a:pPr indent="-368300" lvl="0" marL="457200" rtl="0" algn="l">
              <a:spcBef>
                <a:spcPts val="0"/>
              </a:spcBef>
              <a:spcAft>
                <a:spcPts val="0"/>
              </a:spcAft>
              <a:buClr>
                <a:srgbClr val="000000"/>
              </a:buClr>
              <a:buSzPts val="2200"/>
              <a:buAutoNum type="arabicPeriod"/>
            </a:pPr>
            <a:r>
              <a:rPr lang="de" sz="2200">
                <a:solidFill>
                  <a:srgbClr val="000000"/>
                </a:solidFill>
              </a:rPr>
              <a:t>Demo</a:t>
            </a:r>
            <a:endParaRPr sz="22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5"/>
          <p:cNvSpPr txBox="1"/>
          <p:nvPr>
            <p:ph type="ctrTitle"/>
          </p:nvPr>
        </p:nvSpPr>
        <p:spPr>
          <a:xfrm>
            <a:off x="1803050" y="1391300"/>
            <a:ext cx="5268000" cy="1067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de"/>
              <a:t>Vision</a:t>
            </a:r>
            <a:endParaRPr/>
          </a:p>
          <a:p>
            <a:pPr indent="0" lvl="0" marL="0" rtl="0" algn="ctr">
              <a:spcBef>
                <a:spcPts val="0"/>
              </a:spcBef>
              <a:spcAft>
                <a:spcPts val="0"/>
              </a:spcAft>
              <a:buNone/>
            </a:pPr>
            <a:r>
              <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type="title"/>
          </p:nvPr>
        </p:nvSpPr>
        <p:spPr>
          <a:xfrm>
            <a:off x="311300" y="500925"/>
            <a:ext cx="3704400" cy="961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Vision</a:t>
            </a:r>
            <a:endParaRPr/>
          </a:p>
        </p:txBody>
      </p:sp>
      <p:sp>
        <p:nvSpPr>
          <p:cNvPr id="83" name="Google Shape;83;p16"/>
          <p:cNvSpPr txBox="1"/>
          <p:nvPr>
            <p:ph idx="2" type="body"/>
          </p:nvPr>
        </p:nvSpPr>
        <p:spPr>
          <a:xfrm>
            <a:off x="8300" y="1423350"/>
            <a:ext cx="4563600" cy="3327000"/>
          </a:xfrm>
          <a:prstGeom prst="rect">
            <a:avLst/>
          </a:prstGeom>
        </p:spPr>
        <p:txBody>
          <a:bodyPr anchorCtr="0" anchor="t" bIns="91425" lIns="91425" spcFirstLastPara="1" rIns="91425" wrap="square" tIns="342000">
            <a:normAutofit/>
          </a:bodyPr>
          <a:lstStyle/>
          <a:p>
            <a:pPr indent="-323850" lvl="0" marL="4572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Mehrspieler</a:t>
            </a:r>
            <a:r>
              <a:rPr lang="de" sz="1500">
                <a:solidFill>
                  <a:schemeClr val="accent2"/>
                </a:solidFill>
                <a:highlight>
                  <a:srgbClr val="31394D"/>
                </a:highlight>
              </a:rPr>
              <a:t>-Spiel im Webbrowser</a:t>
            </a:r>
            <a:endParaRPr sz="1500">
              <a:solidFill>
                <a:schemeClr val="accent2"/>
              </a:solidFill>
              <a:highlight>
                <a:srgbClr val="31394D"/>
              </a:highlight>
            </a:endParaRPr>
          </a:p>
          <a:p>
            <a:pPr indent="-323850" lvl="0" marL="4572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online zugängliche Alternative zum klassischen Brettspiel “</a:t>
            </a:r>
            <a:r>
              <a:rPr i="1" lang="de" sz="1500">
                <a:solidFill>
                  <a:schemeClr val="accent2"/>
                </a:solidFill>
                <a:highlight>
                  <a:srgbClr val="31394D"/>
                </a:highlight>
              </a:rPr>
              <a:t>Siedler von Catan</a:t>
            </a:r>
            <a:r>
              <a:rPr lang="de" sz="1500">
                <a:solidFill>
                  <a:schemeClr val="accent2"/>
                </a:solidFill>
                <a:highlight>
                  <a:srgbClr val="31394D"/>
                </a:highlight>
              </a:rPr>
              <a:t>”</a:t>
            </a:r>
            <a:endParaRPr sz="1500">
              <a:solidFill>
                <a:schemeClr val="accent2"/>
              </a:solidFill>
              <a:highlight>
                <a:srgbClr val="31394D"/>
              </a:highlight>
            </a:endParaRPr>
          </a:p>
          <a:p>
            <a:pPr indent="-323850" lvl="0" marL="4572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Mit Freunden oder zufälligen Spielern</a:t>
            </a:r>
            <a:endParaRPr sz="1500">
              <a:solidFill>
                <a:schemeClr val="accent2"/>
              </a:solidFill>
              <a:highlight>
                <a:srgbClr val="31394D"/>
              </a:highlight>
            </a:endParaRPr>
          </a:p>
          <a:p>
            <a:pPr indent="-323850" lvl="0" marL="4572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Mit oder Ohne Accounts</a:t>
            </a:r>
            <a:endParaRPr sz="1500">
              <a:solidFill>
                <a:schemeClr val="accent2"/>
              </a:solidFill>
              <a:highlight>
                <a:srgbClr val="31394D"/>
              </a:highlight>
            </a:endParaRPr>
          </a:p>
          <a:p>
            <a:pPr indent="-323850" lvl="0" marL="4572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Egal welcher Computer, nur ein Browser nötig</a:t>
            </a:r>
            <a:endParaRPr sz="1500">
              <a:solidFill>
                <a:schemeClr val="accent2"/>
              </a:solidFill>
              <a:highlight>
                <a:srgbClr val="31394D"/>
              </a:highlight>
            </a:endParaRPr>
          </a:p>
        </p:txBody>
      </p:sp>
      <p:pic>
        <p:nvPicPr>
          <p:cNvPr id="84" name="Google Shape;84;p16" title="logo.png"/>
          <p:cNvPicPr preferRelativeResize="0"/>
          <p:nvPr/>
        </p:nvPicPr>
        <p:blipFill>
          <a:blip r:embed="rId3">
            <a:alphaModFix/>
          </a:blip>
          <a:stretch>
            <a:fillRect/>
          </a:stretch>
        </p:blipFill>
        <p:spPr>
          <a:xfrm>
            <a:off x="5164225" y="1311400"/>
            <a:ext cx="3360950" cy="25207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type="ctrTitle"/>
          </p:nvPr>
        </p:nvSpPr>
        <p:spPr>
          <a:xfrm>
            <a:off x="1110375" y="1391300"/>
            <a:ext cx="6952500" cy="1067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de"/>
              <a:t>Architektur</a:t>
            </a:r>
            <a:endParaRPr/>
          </a:p>
          <a:p>
            <a:pPr indent="0" lvl="0" marL="0" rtl="0" algn="ctr">
              <a:spcBef>
                <a:spcPts val="0"/>
              </a:spcBef>
              <a:spcAft>
                <a:spcPts val="0"/>
              </a:spcAft>
              <a:buNone/>
            </a:pPr>
            <a:r>
              <a:t/>
            </a:r>
            <a:endParaRPr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ph type="title"/>
          </p:nvPr>
        </p:nvSpPr>
        <p:spPr>
          <a:xfrm>
            <a:off x="311300" y="500925"/>
            <a:ext cx="3704400" cy="92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Architektur</a:t>
            </a:r>
            <a:br>
              <a:rPr lang="de"/>
            </a:br>
            <a:r>
              <a:rPr lang="de" sz="2000">
                <a:latin typeface="Merriweather Light"/>
                <a:ea typeface="Merriweather Light"/>
                <a:cs typeface="Merriweather Light"/>
                <a:sym typeface="Merriweather Light"/>
              </a:rPr>
              <a:t>	Codestruktur</a:t>
            </a:r>
            <a:endParaRPr sz="2000">
              <a:latin typeface="Merriweather Light"/>
              <a:ea typeface="Merriweather Light"/>
              <a:cs typeface="Merriweather Light"/>
              <a:sym typeface="Merriweather Light"/>
            </a:endParaRPr>
          </a:p>
        </p:txBody>
      </p:sp>
      <p:sp>
        <p:nvSpPr>
          <p:cNvPr id="95" name="Google Shape;95;p18"/>
          <p:cNvSpPr txBox="1"/>
          <p:nvPr>
            <p:ph idx="2" type="body"/>
          </p:nvPr>
        </p:nvSpPr>
        <p:spPr>
          <a:xfrm>
            <a:off x="8300" y="1423350"/>
            <a:ext cx="4563600" cy="3720000"/>
          </a:xfrm>
          <a:prstGeom prst="rect">
            <a:avLst/>
          </a:prstGeom>
        </p:spPr>
        <p:txBody>
          <a:bodyPr anchorCtr="0" anchor="t" bIns="91425" lIns="91425" spcFirstLastPara="1" rIns="91425" wrap="square" tIns="342000">
            <a:normAutofit/>
          </a:bodyPr>
          <a:lstStyle/>
          <a:p>
            <a:pPr indent="-323850" lvl="0" marL="4572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Frontend: Component-basiert</a:t>
            </a:r>
            <a:endParaRPr sz="1500">
              <a:solidFill>
                <a:schemeClr val="accent2"/>
              </a:solidFill>
              <a:highlight>
                <a:srgbClr val="31394D"/>
              </a:highlight>
            </a:endParaRPr>
          </a:p>
          <a:p>
            <a:pPr indent="-323850" lvl="1" marL="914400" rtl="0" algn="l">
              <a:lnSpc>
                <a:spcPct val="120000"/>
              </a:lnSpc>
              <a:spcBef>
                <a:spcPts val="0"/>
              </a:spcBef>
              <a:spcAft>
                <a:spcPts val="0"/>
              </a:spcAft>
              <a:buClr>
                <a:schemeClr val="accent2"/>
              </a:buClr>
              <a:buSzPts val="1500"/>
              <a:buChar char="○"/>
            </a:pPr>
            <a:r>
              <a:rPr lang="de" sz="1500">
                <a:solidFill>
                  <a:schemeClr val="lt1"/>
                </a:solidFill>
                <a:highlight>
                  <a:srgbClr val="31394D"/>
                </a:highlight>
                <a:latin typeface="Consolas"/>
                <a:ea typeface="Consolas"/>
                <a:cs typeface="Consolas"/>
                <a:sym typeface="Consolas"/>
              </a:rPr>
              <a:t>components/</a:t>
            </a:r>
            <a:r>
              <a:rPr lang="de" sz="1500">
                <a:solidFill>
                  <a:schemeClr val="accent2"/>
                </a:solidFill>
                <a:highlight>
                  <a:srgbClr val="31394D"/>
                </a:highlight>
                <a:latin typeface="Consolas"/>
                <a:ea typeface="Consolas"/>
                <a:cs typeface="Consolas"/>
                <a:sym typeface="Consolas"/>
              </a:rPr>
              <a:t> </a:t>
            </a:r>
            <a:r>
              <a:rPr lang="de" sz="1500">
                <a:solidFill>
                  <a:schemeClr val="accent2"/>
                </a:solidFill>
                <a:highlight>
                  <a:srgbClr val="31394D"/>
                </a:highlight>
              </a:rPr>
              <a:t>	→ UI-Elemente</a:t>
            </a:r>
            <a:endParaRPr sz="1500">
              <a:solidFill>
                <a:schemeClr val="accent2"/>
              </a:solidFill>
              <a:highlight>
                <a:srgbClr val="31394D"/>
              </a:highlight>
            </a:endParaRPr>
          </a:p>
          <a:p>
            <a:pPr indent="-323850" lvl="1" marL="914400" rtl="0" algn="l">
              <a:lnSpc>
                <a:spcPct val="120000"/>
              </a:lnSpc>
              <a:spcBef>
                <a:spcPts val="0"/>
              </a:spcBef>
              <a:spcAft>
                <a:spcPts val="0"/>
              </a:spcAft>
              <a:buClr>
                <a:schemeClr val="accent2"/>
              </a:buClr>
              <a:buSzPts val="1500"/>
              <a:buChar char="○"/>
            </a:pPr>
            <a:r>
              <a:rPr lang="de" sz="1500">
                <a:solidFill>
                  <a:schemeClr val="lt1"/>
                </a:solidFill>
                <a:highlight>
                  <a:srgbClr val="31394D"/>
                </a:highlight>
                <a:latin typeface="Consolas"/>
                <a:ea typeface="Consolas"/>
                <a:cs typeface="Consolas"/>
                <a:sym typeface="Consolas"/>
              </a:rPr>
              <a:t>pages/ </a:t>
            </a:r>
            <a:r>
              <a:rPr lang="de" sz="1500">
                <a:solidFill>
                  <a:schemeClr val="accent2"/>
                </a:solidFill>
                <a:highlight>
                  <a:srgbClr val="31394D"/>
                </a:highlight>
              </a:rPr>
              <a:t>		→ Seiten-JSX</a:t>
            </a:r>
            <a:endParaRPr sz="1500">
              <a:solidFill>
                <a:schemeClr val="accent2"/>
              </a:solidFill>
              <a:highlight>
                <a:srgbClr val="31394D"/>
              </a:highlight>
            </a:endParaRPr>
          </a:p>
          <a:p>
            <a:pPr indent="-323850" lvl="1" marL="914400" rtl="0" algn="l">
              <a:lnSpc>
                <a:spcPct val="120000"/>
              </a:lnSpc>
              <a:spcBef>
                <a:spcPts val="0"/>
              </a:spcBef>
              <a:spcAft>
                <a:spcPts val="0"/>
              </a:spcAft>
              <a:buClr>
                <a:schemeClr val="accent2"/>
              </a:buClr>
              <a:buSzPts val="1500"/>
              <a:buChar char="○"/>
            </a:pPr>
            <a:r>
              <a:rPr lang="de" sz="1500">
                <a:solidFill>
                  <a:schemeClr val="lt1"/>
                </a:solidFill>
                <a:highlight>
                  <a:srgbClr val="31394D"/>
                </a:highlight>
                <a:latin typeface="Consolas"/>
                <a:ea typeface="Consolas"/>
                <a:cs typeface="Consolas"/>
                <a:sym typeface="Consolas"/>
              </a:rPr>
              <a:t>public</a:t>
            </a:r>
            <a:r>
              <a:rPr lang="de" sz="1500">
                <a:solidFill>
                  <a:schemeClr val="lt1"/>
                </a:solidFill>
                <a:highlight>
                  <a:srgbClr val="31394D"/>
                </a:highlight>
                <a:latin typeface="Consolas"/>
                <a:ea typeface="Consolas"/>
                <a:cs typeface="Consolas"/>
                <a:sym typeface="Consolas"/>
              </a:rPr>
              <a:t>/</a:t>
            </a:r>
            <a:r>
              <a:rPr lang="de" sz="1500">
                <a:solidFill>
                  <a:schemeClr val="accent2"/>
                </a:solidFill>
                <a:highlight>
                  <a:srgbClr val="31394D"/>
                </a:highlight>
                <a:latin typeface="Consolas"/>
                <a:ea typeface="Consolas"/>
                <a:cs typeface="Consolas"/>
                <a:sym typeface="Consolas"/>
              </a:rPr>
              <a:t> </a:t>
            </a:r>
            <a:r>
              <a:rPr lang="de" sz="1500">
                <a:solidFill>
                  <a:schemeClr val="accent2"/>
                </a:solidFill>
                <a:highlight>
                  <a:srgbClr val="31394D"/>
                </a:highlight>
              </a:rPr>
              <a:t>		→ globale Ressourcen</a:t>
            </a:r>
            <a:br>
              <a:rPr lang="de" sz="1500">
                <a:solidFill>
                  <a:schemeClr val="accent2"/>
                </a:solidFill>
                <a:highlight>
                  <a:srgbClr val="31394D"/>
                </a:highlight>
              </a:rPr>
            </a:br>
            <a:endParaRPr sz="1500">
              <a:solidFill>
                <a:schemeClr val="accent2"/>
              </a:solidFill>
              <a:highlight>
                <a:srgbClr val="31394D"/>
              </a:highlight>
            </a:endParaRPr>
          </a:p>
          <a:p>
            <a:pPr indent="-323850" lvl="0" marL="4572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Backend: Package-basiert</a:t>
            </a:r>
            <a:endParaRPr sz="1500">
              <a:solidFill>
                <a:schemeClr val="accent2"/>
              </a:solidFill>
              <a:highlight>
                <a:srgbClr val="31394D"/>
              </a:highlight>
            </a:endParaRPr>
          </a:p>
          <a:p>
            <a:pPr indent="-323850" lvl="1" marL="914400" rtl="0" algn="l">
              <a:lnSpc>
                <a:spcPct val="120000"/>
              </a:lnSpc>
              <a:spcBef>
                <a:spcPts val="0"/>
              </a:spcBef>
              <a:spcAft>
                <a:spcPts val="0"/>
              </a:spcAft>
              <a:buClr>
                <a:schemeClr val="accent2"/>
              </a:buClr>
              <a:buSzPts val="1500"/>
              <a:buChar char="○"/>
            </a:pPr>
            <a:r>
              <a:rPr lang="de" sz="1500">
                <a:solidFill>
                  <a:schemeClr val="lt1"/>
                </a:solidFill>
                <a:highlight>
                  <a:srgbClr val="31394D"/>
                </a:highlight>
                <a:latin typeface="Consolas"/>
                <a:ea typeface="Consolas"/>
                <a:cs typeface="Consolas"/>
                <a:sym typeface="Consolas"/>
              </a:rPr>
              <a:t>account </a:t>
            </a:r>
            <a:r>
              <a:rPr lang="de" sz="1500">
                <a:solidFill>
                  <a:schemeClr val="accent2"/>
                </a:solidFill>
                <a:highlight>
                  <a:srgbClr val="31394D"/>
                </a:highlight>
              </a:rPr>
              <a:t>		→ Auth, Login, …</a:t>
            </a:r>
            <a:endParaRPr sz="1500">
              <a:solidFill>
                <a:schemeClr val="accent2"/>
              </a:solidFill>
              <a:highlight>
                <a:srgbClr val="31394D"/>
              </a:highlight>
            </a:endParaRPr>
          </a:p>
          <a:p>
            <a:pPr indent="-323850" lvl="1" marL="914400" rtl="0" algn="l">
              <a:lnSpc>
                <a:spcPct val="120000"/>
              </a:lnSpc>
              <a:spcBef>
                <a:spcPts val="0"/>
              </a:spcBef>
              <a:spcAft>
                <a:spcPts val="0"/>
              </a:spcAft>
              <a:buClr>
                <a:schemeClr val="accent2"/>
              </a:buClr>
              <a:buSzPts val="1500"/>
              <a:buChar char="○"/>
            </a:pPr>
            <a:r>
              <a:rPr lang="de" sz="1500">
                <a:solidFill>
                  <a:schemeClr val="lt1"/>
                </a:solidFill>
                <a:highlight>
                  <a:srgbClr val="31394D"/>
                </a:highlight>
                <a:latin typeface="Consolas"/>
                <a:ea typeface="Consolas"/>
                <a:cs typeface="Consolas"/>
                <a:sym typeface="Consolas"/>
              </a:rPr>
              <a:t>game </a:t>
            </a:r>
            <a:r>
              <a:rPr lang="de" sz="1500">
                <a:solidFill>
                  <a:schemeClr val="accent2"/>
                </a:solidFill>
                <a:highlight>
                  <a:srgbClr val="31394D"/>
                </a:highlight>
              </a:rPr>
              <a:t>		→ Spiellogik, Züge</a:t>
            </a:r>
            <a:endParaRPr sz="1500">
              <a:solidFill>
                <a:schemeClr val="accent2"/>
              </a:solidFill>
              <a:highlight>
                <a:srgbClr val="31394D"/>
              </a:highlight>
            </a:endParaRPr>
          </a:p>
          <a:p>
            <a:pPr indent="-323850" lvl="1" marL="914400" rtl="0" algn="l">
              <a:lnSpc>
                <a:spcPct val="120000"/>
              </a:lnSpc>
              <a:spcBef>
                <a:spcPts val="0"/>
              </a:spcBef>
              <a:spcAft>
                <a:spcPts val="0"/>
              </a:spcAft>
              <a:buClr>
                <a:schemeClr val="accent2"/>
              </a:buClr>
              <a:buSzPts val="1500"/>
              <a:buChar char="○"/>
            </a:pPr>
            <a:r>
              <a:rPr lang="de" sz="1500">
                <a:solidFill>
                  <a:schemeClr val="lt1"/>
                </a:solidFill>
                <a:highlight>
                  <a:srgbClr val="31394D"/>
                </a:highlight>
                <a:latin typeface="Consolas"/>
                <a:ea typeface="Consolas"/>
                <a:cs typeface="Consolas"/>
                <a:sym typeface="Consolas"/>
              </a:rPr>
              <a:t>lobby</a:t>
            </a:r>
            <a:r>
              <a:rPr lang="de" sz="1500">
                <a:solidFill>
                  <a:schemeClr val="accent2"/>
                </a:solidFill>
                <a:highlight>
                  <a:srgbClr val="31394D"/>
                </a:highlight>
              </a:rPr>
              <a:t> 		→ Lobby-Verwaltung</a:t>
            </a:r>
            <a:endParaRPr sz="1500">
              <a:solidFill>
                <a:schemeClr val="accent2"/>
              </a:solidFill>
              <a:highlight>
                <a:srgbClr val="31394D"/>
              </a:highlight>
            </a:endParaRPr>
          </a:p>
          <a:p>
            <a:pPr indent="-323850" lvl="1" marL="9144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 mit </a:t>
            </a:r>
            <a:r>
              <a:rPr lang="de" sz="1500">
                <a:solidFill>
                  <a:schemeClr val="lt1"/>
                </a:solidFill>
                <a:highlight>
                  <a:srgbClr val="31394D"/>
                </a:highlight>
                <a:latin typeface="Consolas"/>
                <a:ea typeface="Consolas"/>
                <a:cs typeface="Consolas"/>
                <a:sym typeface="Consolas"/>
              </a:rPr>
              <a:t>.dto</a:t>
            </a:r>
            <a:r>
              <a:rPr lang="de" sz="1500">
                <a:solidFill>
                  <a:schemeClr val="accent2"/>
                </a:solidFill>
                <a:highlight>
                  <a:srgbClr val="31394D"/>
                </a:highlight>
              </a:rPr>
              <a:t>-Packages (Abstraktion)</a:t>
            </a:r>
            <a:endParaRPr sz="1500">
              <a:solidFill>
                <a:schemeClr val="accent2"/>
              </a:solidFill>
              <a:highlight>
                <a:srgbClr val="31394D"/>
              </a:highlight>
            </a:endParaRPr>
          </a:p>
        </p:txBody>
      </p:sp>
      <p:sp>
        <p:nvSpPr>
          <p:cNvPr id="96" name="Google Shape;96;p18"/>
          <p:cNvSpPr txBox="1"/>
          <p:nvPr/>
        </p:nvSpPr>
        <p:spPr>
          <a:xfrm>
            <a:off x="4612725" y="2978375"/>
            <a:ext cx="479400" cy="189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de" sz="9600">
                <a:solidFill>
                  <a:schemeClr val="dk2"/>
                </a:solidFill>
                <a:latin typeface="Roboto"/>
                <a:ea typeface="Roboto"/>
                <a:cs typeface="Roboto"/>
                <a:sym typeface="Roboto"/>
              </a:rPr>
              <a:t>}</a:t>
            </a:r>
            <a:endParaRPr sz="9600">
              <a:solidFill>
                <a:schemeClr val="dk2"/>
              </a:solidFill>
              <a:latin typeface="Roboto"/>
              <a:ea typeface="Roboto"/>
              <a:cs typeface="Roboto"/>
              <a:sym typeface="Roboto"/>
            </a:endParaRPr>
          </a:p>
        </p:txBody>
      </p:sp>
      <p:sp>
        <p:nvSpPr>
          <p:cNvPr id="97" name="Google Shape;97;p18"/>
          <p:cNvSpPr txBox="1"/>
          <p:nvPr/>
        </p:nvSpPr>
        <p:spPr>
          <a:xfrm>
            <a:off x="5092118" y="3631863"/>
            <a:ext cx="4053300" cy="47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de" sz="1700">
                <a:solidFill>
                  <a:schemeClr val="dk2"/>
                </a:solidFill>
                <a:latin typeface="Roboto"/>
                <a:ea typeface="Roboto"/>
                <a:cs typeface="Roboto"/>
                <a:sym typeface="Roboto"/>
              </a:rPr>
              <a:t>Bedingt durch Repository-Pattern</a:t>
            </a:r>
            <a:endParaRPr b="1" i="1" sz="1700">
              <a:solidFill>
                <a:schemeClr val="dk2"/>
              </a:solidFill>
              <a:latin typeface="Roboto"/>
              <a:ea typeface="Roboto"/>
              <a:cs typeface="Roboto"/>
              <a:sym typeface="Roboto"/>
            </a:endParaRPr>
          </a:p>
        </p:txBody>
      </p:sp>
      <p:sp>
        <p:nvSpPr>
          <p:cNvPr id="98" name="Google Shape;98;p18"/>
          <p:cNvSpPr txBox="1"/>
          <p:nvPr/>
        </p:nvSpPr>
        <p:spPr>
          <a:xfrm>
            <a:off x="4614039" y="1434668"/>
            <a:ext cx="479400" cy="189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de" sz="9600">
                <a:solidFill>
                  <a:schemeClr val="dk2"/>
                </a:solidFill>
                <a:latin typeface="Roboto"/>
                <a:ea typeface="Roboto"/>
                <a:cs typeface="Roboto"/>
                <a:sym typeface="Roboto"/>
              </a:rPr>
              <a:t>}</a:t>
            </a:r>
            <a:endParaRPr sz="9600">
              <a:solidFill>
                <a:schemeClr val="dk2"/>
              </a:solidFill>
              <a:latin typeface="Roboto"/>
              <a:ea typeface="Roboto"/>
              <a:cs typeface="Roboto"/>
              <a:sym typeface="Roboto"/>
            </a:endParaRPr>
          </a:p>
        </p:txBody>
      </p:sp>
      <p:sp>
        <p:nvSpPr>
          <p:cNvPr id="99" name="Google Shape;99;p18"/>
          <p:cNvSpPr txBox="1"/>
          <p:nvPr/>
        </p:nvSpPr>
        <p:spPr>
          <a:xfrm>
            <a:off x="5092118" y="2092038"/>
            <a:ext cx="4053300" cy="47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de" sz="1700">
                <a:solidFill>
                  <a:schemeClr val="dk2"/>
                </a:solidFill>
                <a:latin typeface="Roboto"/>
                <a:ea typeface="Roboto"/>
                <a:cs typeface="Roboto"/>
                <a:sym typeface="Roboto"/>
              </a:rPr>
              <a:t>Bedingt durch React Framework</a:t>
            </a:r>
            <a:endParaRPr b="1" i="1" sz="1700">
              <a:solidFill>
                <a:schemeClr val="dk2"/>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type="title"/>
          </p:nvPr>
        </p:nvSpPr>
        <p:spPr>
          <a:xfrm>
            <a:off x="311300" y="500925"/>
            <a:ext cx="3704400" cy="1195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Architektur</a:t>
            </a:r>
            <a:br>
              <a:rPr lang="de"/>
            </a:br>
            <a:r>
              <a:rPr lang="de" sz="2000">
                <a:latin typeface="Merriweather Light"/>
                <a:ea typeface="Merriweather Light"/>
                <a:cs typeface="Merriweather Light"/>
                <a:sym typeface="Merriweather Light"/>
              </a:rPr>
              <a:t>	</a:t>
            </a:r>
            <a:r>
              <a:rPr lang="de" sz="2000">
                <a:latin typeface="Merriweather Light"/>
                <a:ea typeface="Merriweather Light"/>
                <a:cs typeface="Merriweather Light"/>
                <a:sym typeface="Merriweather Light"/>
              </a:rPr>
              <a:t>Systemarchitektur</a:t>
            </a:r>
            <a:endParaRPr sz="2000">
              <a:latin typeface="Merriweather Light"/>
              <a:ea typeface="Merriweather Light"/>
              <a:cs typeface="Merriweather Light"/>
              <a:sym typeface="Merriweather Light"/>
            </a:endParaRPr>
          </a:p>
        </p:txBody>
      </p:sp>
      <p:sp>
        <p:nvSpPr>
          <p:cNvPr id="105" name="Google Shape;105;p19"/>
          <p:cNvSpPr txBox="1"/>
          <p:nvPr>
            <p:ph idx="2" type="body"/>
          </p:nvPr>
        </p:nvSpPr>
        <p:spPr>
          <a:xfrm>
            <a:off x="8300" y="1423350"/>
            <a:ext cx="4563600" cy="3720000"/>
          </a:xfrm>
          <a:prstGeom prst="rect">
            <a:avLst/>
          </a:prstGeom>
        </p:spPr>
        <p:txBody>
          <a:bodyPr anchorCtr="0" anchor="t" bIns="91425" lIns="91425" spcFirstLastPara="1" rIns="91425" wrap="square" tIns="342000">
            <a:normAutofit/>
          </a:bodyPr>
          <a:lstStyle/>
          <a:p>
            <a:pPr indent="-323850" lvl="0" marL="4572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Nach </a:t>
            </a:r>
            <a:r>
              <a:rPr b="1" lang="de" sz="1500">
                <a:solidFill>
                  <a:schemeClr val="lt1"/>
                </a:solidFill>
                <a:highlight>
                  <a:srgbClr val="31394D"/>
                </a:highlight>
              </a:rPr>
              <a:t>MVC-Modell</a:t>
            </a:r>
            <a:r>
              <a:rPr lang="de" sz="1500">
                <a:solidFill>
                  <a:schemeClr val="accent2"/>
                </a:solidFill>
                <a:highlight>
                  <a:srgbClr val="31394D"/>
                </a:highlight>
              </a:rPr>
              <a:t> vorgegangen:</a:t>
            </a:r>
            <a:endParaRPr sz="1500">
              <a:solidFill>
                <a:schemeClr val="accent2"/>
              </a:solidFill>
              <a:highlight>
                <a:srgbClr val="31394D"/>
              </a:highlight>
            </a:endParaRPr>
          </a:p>
          <a:p>
            <a:pPr indent="-323850" lvl="1" marL="914400" rtl="0" algn="l">
              <a:lnSpc>
                <a:spcPct val="120000"/>
              </a:lnSpc>
              <a:spcBef>
                <a:spcPts val="0"/>
              </a:spcBef>
              <a:spcAft>
                <a:spcPts val="0"/>
              </a:spcAft>
              <a:buClr>
                <a:schemeClr val="accent2"/>
              </a:buClr>
              <a:buSzPts val="1500"/>
              <a:buChar char="○"/>
            </a:pPr>
            <a:r>
              <a:rPr lang="de" sz="1500" u="sng">
                <a:solidFill>
                  <a:schemeClr val="accent2"/>
                </a:solidFill>
                <a:highlight>
                  <a:schemeClr val="dk1"/>
                </a:highlight>
              </a:rPr>
              <a:t>V</a:t>
            </a:r>
            <a:r>
              <a:rPr lang="de" sz="1500">
                <a:solidFill>
                  <a:schemeClr val="accent2"/>
                </a:solidFill>
                <a:highlight>
                  <a:schemeClr val="dk1"/>
                </a:highlight>
              </a:rPr>
              <a:t>iew auf einer Webseite</a:t>
            </a:r>
            <a:br>
              <a:rPr lang="de" sz="1500">
                <a:solidFill>
                  <a:schemeClr val="accent2"/>
                </a:solidFill>
                <a:highlight>
                  <a:schemeClr val="dk1"/>
                </a:highlight>
              </a:rPr>
            </a:br>
            <a:r>
              <a:rPr lang="de" sz="1500">
                <a:solidFill>
                  <a:schemeClr val="accent2"/>
                </a:solidFill>
                <a:highlight>
                  <a:schemeClr val="dk1"/>
                </a:highlight>
              </a:rPr>
              <a:t>→ React TypeScript</a:t>
            </a:r>
            <a:endParaRPr sz="1500">
              <a:solidFill>
                <a:schemeClr val="accent2"/>
              </a:solidFill>
              <a:highlight>
                <a:srgbClr val="31394D"/>
              </a:highlight>
            </a:endParaRPr>
          </a:p>
          <a:p>
            <a:pPr indent="-323850" lvl="1" marL="914400" rtl="0" algn="l">
              <a:lnSpc>
                <a:spcPct val="120000"/>
              </a:lnSpc>
              <a:spcBef>
                <a:spcPts val="0"/>
              </a:spcBef>
              <a:spcAft>
                <a:spcPts val="0"/>
              </a:spcAft>
              <a:buClr>
                <a:schemeClr val="accent2"/>
              </a:buClr>
              <a:buSzPts val="1500"/>
              <a:buChar char="○"/>
            </a:pPr>
            <a:r>
              <a:rPr lang="de" sz="1500" u="sng">
                <a:solidFill>
                  <a:schemeClr val="accent2"/>
                </a:solidFill>
                <a:highlight>
                  <a:srgbClr val="31394D"/>
                </a:highlight>
              </a:rPr>
              <a:t>C</a:t>
            </a:r>
            <a:r>
              <a:rPr lang="de" sz="1500">
                <a:solidFill>
                  <a:schemeClr val="accent2"/>
                </a:solidFill>
                <a:highlight>
                  <a:srgbClr val="31394D"/>
                </a:highlight>
              </a:rPr>
              <a:t>ontroller auf dem Server</a:t>
            </a:r>
            <a:br>
              <a:rPr lang="de" sz="1500">
                <a:solidFill>
                  <a:schemeClr val="accent2"/>
                </a:solidFill>
                <a:highlight>
                  <a:srgbClr val="31394D"/>
                </a:highlight>
              </a:rPr>
            </a:br>
            <a:r>
              <a:rPr lang="de" sz="1500">
                <a:solidFill>
                  <a:schemeClr val="accent2"/>
                </a:solidFill>
                <a:highlight>
                  <a:srgbClr val="31394D"/>
                </a:highlight>
              </a:rPr>
              <a:t>→ Java Spring Boot</a:t>
            </a:r>
            <a:endParaRPr sz="1500">
              <a:solidFill>
                <a:schemeClr val="accent2"/>
              </a:solidFill>
              <a:highlight>
                <a:srgbClr val="31394D"/>
              </a:highlight>
            </a:endParaRPr>
          </a:p>
          <a:p>
            <a:pPr indent="-323850" lvl="1" marL="914400" rtl="0" algn="l">
              <a:lnSpc>
                <a:spcPct val="120000"/>
              </a:lnSpc>
              <a:spcBef>
                <a:spcPts val="0"/>
              </a:spcBef>
              <a:spcAft>
                <a:spcPts val="0"/>
              </a:spcAft>
              <a:buClr>
                <a:schemeClr val="accent2"/>
              </a:buClr>
              <a:buSzPts val="1500"/>
              <a:buChar char="○"/>
            </a:pPr>
            <a:r>
              <a:rPr lang="de" sz="1500" u="sng">
                <a:solidFill>
                  <a:schemeClr val="accent2"/>
                </a:solidFill>
                <a:highlight>
                  <a:schemeClr val="dk1"/>
                </a:highlight>
              </a:rPr>
              <a:t>M</a:t>
            </a:r>
            <a:r>
              <a:rPr lang="de" sz="1500">
                <a:solidFill>
                  <a:schemeClr val="accent2"/>
                </a:solidFill>
                <a:highlight>
                  <a:schemeClr val="dk1"/>
                </a:highlight>
              </a:rPr>
              <a:t>odel mit der Datenbank</a:t>
            </a:r>
            <a:br>
              <a:rPr lang="de" sz="1500">
                <a:solidFill>
                  <a:schemeClr val="accent2"/>
                </a:solidFill>
                <a:highlight>
                  <a:schemeClr val="dk1"/>
                </a:highlight>
              </a:rPr>
            </a:br>
            <a:r>
              <a:rPr lang="de" sz="1500">
                <a:solidFill>
                  <a:schemeClr val="accent2"/>
                </a:solidFill>
                <a:highlight>
                  <a:schemeClr val="dk1"/>
                </a:highlight>
              </a:rPr>
              <a:t>→ PostgreSQL</a:t>
            </a:r>
            <a:endParaRPr sz="1500">
              <a:solidFill>
                <a:schemeClr val="accent2"/>
              </a:solidFill>
              <a:highlight>
                <a:srgbClr val="31394D"/>
              </a:highlight>
            </a:endParaRPr>
          </a:p>
        </p:txBody>
      </p:sp>
      <p:pic>
        <p:nvPicPr>
          <p:cNvPr id="106" name="Google Shape;106;p19" title="MVC-Diagramm.drawio.png"/>
          <p:cNvPicPr preferRelativeResize="0"/>
          <p:nvPr/>
        </p:nvPicPr>
        <p:blipFill>
          <a:blip r:embed="rId3">
            <a:alphaModFix/>
          </a:blip>
          <a:stretch>
            <a:fillRect/>
          </a:stretch>
        </p:blipFill>
        <p:spPr>
          <a:xfrm>
            <a:off x="4689350" y="995363"/>
            <a:ext cx="4257675" cy="31527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type="title"/>
          </p:nvPr>
        </p:nvSpPr>
        <p:spPr>
          <a:xfrm>
            <a:off x="311300" y="500925"/>
            <a:ext cx="3704400" cy="1195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Architektur</a:t>
            </a:r>
            <a:br>
              <a:rPr lang="de"/>
            </a:br>
            <a:r>
              <a:rPr lang="de" sz="2000">
                <a:latin typeface="Merriweather Light"/>
                <a:ea typeface="Merriweather Light"/>
                <a:cs typeface="Merriweather Light"/>
                <a:sym typeface="Merriweather Light"/>
              </a:rPr>
              <a:t>	Repository-Pattern</a:t>
            </a:r>
            <a:endParaRPr sz="2000">
              <a:latin typeface="Merriweather Light"/>
              <a:ea typeface="Merriweather Light"/>
              <a:cs typeface="Merriweather Light"/>
              <a:sym typeface="Merriweather Light"/>
            </a:endParaRPr>
          </a:p>
        </p:txBody>
      </p:sp>
      <p:sp>
        <p:nvSpPr>
          <p:cNvPr id="112" name="Google Shape;112;p20"/>
          <p:cNvSpPr txBox="1"/>
          <p:nvPr>
            <p:ph idx="2" type="body"/>
          </p:nvPr>
        </p:nvSpPr>
        <p:spPr>
          <a:xfrm>
            <a:off x="8300" y="1423350"/>
            <a:ext cx="4381200" cy="3720000"/>
          </a:xfrm>
          <a:prstGeom prst="rect">
            <a:avLst/>
          </a:prstGeom>
        </p:spPr>
        <p:txBody>
          <a:bodyPr anchorCtr="0" anchor="t" bIns="91425" lIns="91425" spcFirstLastPara="1" rIns="91425" wrap="square" tIns="342000">
            <a:normAutofit/>
          </a:bodyPr>
          <a:lstStyle/>
          <a:p>
            <a:pPr indent="-323850" lvl="0" marL="457200" rtl="0" algn="l">
              <a:lnSpc>
                <a:spcPct val="120000"/>
              </a:lnSpc>
              <a:spcBef>
                <a:spcPts val="0"/>
              </a:spcBef>
              <a:spcAft>
                <a:spcPts val="0"/>
              </a:spcAft>
              <a:buClr>
                <a:schemeClr val="accent2"/>
              </a:buClr>
              <a:buSzPts val="1500"/>
              <a:buChar char="●"/>
            </a:pPr>
            <a:r>
              <a:rPr lang="de" sz="1500">
                <a:solidFill>
                  <a:schemeClr val="accent2"/>
                </a:solidFill>
                <a:highlight>
                  <a:schemeClr val="dk1"/>
                </a:highlight>
              </a:rPr>
              <a:t>Backend: Repositories repräsentieren Tabellen</a:t>
            </a:r>
            <a:endParaRPr sz="1500">
              <a:solidFill>
                <a:schemeClr val="accent2"/>
              </a:solidFill>
              <a:highlight>
                <a:schemeClr val="dk1"/>
              </a:highlight>
            </a:endParaRPr>
          </a:p>
          <a:p>
            <a:pPr indent="-323850" lvl="1" marL="914400" rtl="0" algn="l">
              <a:lnSpc>
                <a:spcPct val="120000"/>
              </a:lnSpc>
              <a:spcBef>
                <a:spcPts val="0"/>
              </a:spcBef>
              <a:spcAft>
                <a:spcPts val="0"/>
              </a:spcAft>
              <a:buClr>
                <a:schemeClr val="accent2"/>
              </a:buClr>
              <a:buSzPts val="1500"/>
              <a:buChar char="○"/>
            </a:pPr>
            <a:r>
              <a:rPr lang="de" sz="1500">
                <a:solidFill>
                  <a:schemeClr val="accent2"/>
                </a:solidFill>
                <a:highlight>
                  <a:schemeClr val="dk1"/>
                </a:highlight>
              </a:rPr>
              <a:t>DB-Anfragen im Code laufen immer über ein Repository ab</a:t>
            </a:r>
            <a:endParaRPr sz="1500">
              <a:solidFill>
                <a:schemeClr val="accent2"/>
              </a:solidFill>
              <a:highlight>
                <a:schemeClr val="dk1"/>
              </a:highlight>
            </a:endParaRPr>
          </a:p>
          <a:p>
            <a:pPr indent="-323850" lvl="1" marL="914400" rtl="0" algn="l">
              <a:lnSpc>
                <a:spcPct val="120000"/>
              </a:lnSpc>
              <a:spcBef>
                <a:spcPts val="0"/>
              </a:spcBef>
              <a:spcAft>
                <a:spcPts val="0"/>
              </a:spcAft>
              <a:buClr>
                <a:schemeClr val="accent2"/>
              </a:buClr>
              <a:buSzPts val="1500"/>
              <a:buChar char="○"/>
            </a:pPr>
            <a:r>
              <a:rPr lang="de" sz="1500">
                <a:solidFill>
                  <a:schemeClr val="accent2"/>
                </a:solidFill>
                <a:highlight>
                  <a:schemeClr val="dk1"/>
                </a:highlight>
              </a:rPr>
              <a:t>Repository-Klassen als Schnittstelle zur Datenbank</a:t>
            </a:r>
            <a:endParaRPr sz="1500">
              <a:solidFill>
                <a:schemeClr val="accent2"/>
              </a:solidFill>
              <a:highlight>
                <a:schemeClr val="dk1"/>
              </a:highlight>
            </a:endParaRPr>
          </a:p>
          <a:p>
            <a:pPr indent="-323850" lvl="1" marL="914400" rtl="0" algn="l">
              <a:lnSpc>
                <a:spcPct val="120000"/>
              </a:lnSpc>
              <a:spcBef>
                <a:spcPts val="0"/>
              </a:spcBef>
              <a:spcAft>
                <a:spcPts val="0"/>
              </a:spcAft>
              <a:buClr>
                <a:schemeClr val="accent2"/>
              </a:buClr>
              <a:buSzPts val="1500"/>
              <a:buChar char="○"/>
            </a:pPr>
            <a:r>
              <a:rPr lang="de" sz="1500">
                <a:solidFill>
                  <a:schemeClr val="accent2"/>
                </a:solidFill>
                <a:highlight>
                  <a:schemeClr val="dk1"/>
                </a:highlight>
              </a:rPr>
              <a:t>Übernehmen Mapping:</a:t>
            </a:r>
            <a:br>
              <a:rPr lang="de" sz="1500">
                <a:solidFill>
                  <a:schemeClr val="accent2"/>
                </a:solidFill>
                <a:highlight>
                  <a:schemeClr val="dk1"/>
                </a:highlight>
              </a:rPr>
            </a:br>
            <a:r>
              <a:rPr lang="de" sz="1500">
                <a:solidFill>
                  <a:schemeClr val="accent2"/>
                </a:solidFill>
                <a:highlight>
                  <a:schemeClr val="dk1"/>
                </a:highlight>
              </a:rPr>
              <a:t>Java Objekte ↔ DB-Format</a:t>
            </a:r>
            <a:endParaRPr sz="1500">
              <a:solidFill>
                <a:schemeClr val="accent2"/>
              </a:solidFill>
              <a:highlight>
                <a:schemeClr val="dk1"/>
              </a:highlight>
            </a:endParaRPr>
          </a:p>
          <a:p>
            <a:pPr indent="0" lvl="0" marL="0" rtl="0" algn="l">
              <a:lnSpc>
                <a:spcPct val="120000"/>
              </a:lnSpc>
              <a:spcBef>
                <a:spcPts val="0"/>
              </a:spcBef>
              <a:spcAft>
                <a:spcPts val="0"/>
              </a:spcAft>
              <a:buNone/>
            </a:pPr>
            <a:r>
              <a:t/>
            </a:r>
            <a:endParaRPr sz="1500">
              <a:solidFill>
                <a:schemeClr val="accent2"/>
              </a:solidFill>
              <a:highlight>
                <a:schemeClr val="dk1"/>
              </a:highlight>
            </a:endParaRPr>
          </a:p>
          <a:p>
            <a:pPr indent="-323850" lvl="0" marL="457200" rtl="0" algn="l">
              <a:lnSpc>
                <a:spcPct val="120000"/>
              </a:lnSpc>
              <a:spcBef>
                <a:spcPts val="0"/>
              </a:spcBef>
              <a:spcAft>
                <a:spcPts val="0"/>
              </a:spcAft>
              <a:buClr>
                <a:schemeClr val="accent2"/>
              </a:buClr>
              <a:buSzPts val="1500"/>
              <a:buChar char="●"/>
            </a:pPr>
            <a:r>
              <a:rPr lang="de" sz="1500">
                <a:solidFill>
                  <a:schemeClr val="accent2"/>
                </a:solidFill>
                <a:highlight>
                  <a:schemeClr val="dk1"/>
                </a:highlight>
              </a:rPr>
              <a:t>Frontend: Repository Klasse</a:t>
            </a:r>
            <a:endParaRPr sz="1500">
              <a:solidFill>
                <a:schemeClr val="accent2"/>
              </a:solidFill>
              <a:highlight>
                <a:schemeClr val="dk1"/>
              </a:highlight>
            </a:endParaRPr>
          </a:p>
          <a:p>
            <a:pPr indent="-323850" lvl="1" marL="914400" rtl="0" algn="l">
              <a:lnSpc>
                <a:spcPct val="120000"/>
              </a:lnSpc>
              <a:spcBef>
                <a:spcPts val="0"/>
              </a:spcBef>
              <a:spcAft>
                <a:spcPts val="0"/>
              </a:spcAft>
              <a:buClr>
                <a:schemeClr val="accent2"/>
              </a:buClr>
              <a:buSzPts val="1500"/>
              <a:buChar char="○"/>
            </a:pPr>
            <a:r>
              <a:rPr lang="de" sz="1500">
                <a:solidFill>
                  <a:schemeClr val="accent2"/>
                </a:solidFill>
                <a:highlight>
                  <a:schemeClr val="dk1"/>
                </a:highlight>
              </a:rPr>
              <a:t>Per Hooks Zugriff auf Repository</a:t>
            </a:r>
            <a:endParaRPr sz="1500">
              <a:solidFill>
                <a:schemeClr val="accent2"/>
              </a:solidFill>
              <a:highlight>
                <a:schemeClr val="dk1"/>
              </a:highlight>
            </a:endParaRPr>
          </a:p>
          <a:p>
            <a:pPr indent="-323850" lvl="1" marL="914400" rtl="0" algn="l">
              <a:lnSpc>
                <a:spcPct val="120000"/>
              </a:lnSpc>
              <a:spcBef>
                <a:spcPts val="0"/>
              </a:spcBef>
              <a:spcAft>
                <a:spcPts val="0"/>
              </a:spcAft>
              <a:buClr>
                <a:schemeClr val="accent2"/>
              </a:buClr>
              <a:buSzPts val="1500"/>
              <a:buChar char="○"/>
            </a:pPr>
            <a:r>
              <a:rPr lang="de" sz="1500">
                <a:solidFill>
                  <a:schemeClr val="accent2"/>
                </a:solidFill>
                <a:highlight>
                  <a:schemeClr val="dk1"/>
                </a:highlight>
              </a:rPr>
              <a:t>Repository wird mit SSE aktualisiert</a:t>
            </a:r>
            <a:endParaRPr sz="1500">
              <a:solidFill>
                <a:schemeClr val="accent2"/>
              </a:solidFill>
              <a:highlight>
                <a:schemeClr val="dk1"/>
              </a:highlight>
            </a:endParaRPr>
          </a:p>
        </p:txBody>
      </p:sp>
      <p:pic>
        <p:nvPicPr>
          <p:cNvPr descr="Bild Quelle: https://norberteder.com/das-repository-pattern-anhand-eines-beispiels-inkl-tests/" id="113" name="Google Shape;113;p20"/>
          <p:cNvPicPr preferRelativeResize="0"/>
          <p:nvPr/>
        </p:nvPicPr>
        <p:blipFill>
          <a:blip r:embed="rId3">
            <a:alphaModFix/>
          </a:blip>
          <a:stretch>
            <a:fillRect/>
          </a:stretch>
        </p:blipFill>
        <p:spPr>
          <a:xfrm>
            <a:off x="4667400" y="2106613"/>
            <a:ext cx="4381200" cy="930262"/>
          </a:xfrm>
          <a:prstGeom prst="rect">
            <a:avLst/>
          </a:prstGeom>
          <a:noFill/>
          <a:ln>
            <a:noFill/>
          </a:ln>
        </p:spPr>
      </p:pic>
      <p:sp>
        <p:nvSpPr>
          <p:cNvPr id="114" name="Google Shape;114;p20"/>
          <p:cNvSpPr txBox="1"/>
          <p:nvPr/>
        </p:nvSpPr>
        <p:spPr>
          <a:xfrm>
            <a:off x="5475300" y="4404450"/>
            <a:ext cx="2765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1200">
                <a:solidFill>
                  <a:schemeClr val="dk2"/>
                </a:solidFill>
                <a:latin typeface="Roboto"/>
                <a:ea typeface="Roboto"/>
                <a:cs typeface="Roboto"/>
                <a:sym typeface="Roboto"/>
              </a:rPr>
              <a:t>Quelle: </a:t>
            </a:r>
            <a:br>
              <a:rPr lang="de" sz="1200">
                <a:solidFill>
                  <a:schemeClr val="dk2"/>
                </a:solidFill>
                <a:latin typeface="Roboto"/>
                <a:ea typeface="Roboto"/>
                <a:cs typeface="Roboto"/>
                <a:sym typeface="Roboto"/>
              </a:rPr>
            </a:br>
            <a:r>
              <a:rPr lang="de" sz="1200">
                <a:solidFill>
                  <a:schemeClr val="dk2"/>
                </a:solidFill>
                <a:latin typeface="Roboto"/>
                <a:ea typeface="Roboto"/>
                <a:cs typeface="Roboto"/>
                <a:sym typeface="Roboto"/>
              </a:rPr>
              <a:t>norberteder.com/das-repository-pattern-anhand-eines-bespiels_inkl-tests/</a:t>
            </a:r>
            <a:endParaRPr sz="1200">
              <a:solidFill>
                <a:schemeClr val="dk2"/>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1"/>
          <p:cNvSpPr txBox="1"/>
          <p:nvPr>
            <p:ph type="title"/>
          </p:nvPr>
        </p:nvSpPr>
        <p:spPr>
          <a:xfrm>
            <a:off x="311300" y="500925"/>
            <a:ext cx="3704400" cy="100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Architektur</a:t>
            </a:r>
            <a:br>
              <a:rPr lang="de"/>
            </a:br>
            <a:r>
              <a:rPr lang="de" sz="2000">
                <a:latin typeface="Merriweather Light"/>
                <a:ea typeface="Merriweather Light"/>
                <a:cs typeface="Merriweather Light"/>
                <a:sym typeface="Merriweather Light"/>
              </a:rPr>
              <a:t>	SSE &amp; Heartbeat</a:t>
            </a:r>
            <a:endParaRPr sz="2000">
              <a:latin typeface="Merriweather Light"/>
              <a:ea typeface="Merriweather Light"/>
              <a:cs typeface="Merriweather Light"/>
              <a:sym typeface="Merriweather Light"/>
            </a:endParaRPr>
          </a:p>
        </p:txBody>
      </p:sp>
      <p:sp>
        <p:nvSpPr>
          <p:cNvPr id="120" name="Google Shape;120;p21"/>
          <p:cNvSpPr txBox="1"/>
          <p:nvPr>
            <p:ph idx="2" type="body"/>
          </p:nvPr>
        </p:nvSpPr>
        <p:spPr>
          <a:xfrm>
            <a:off x="8300" y="1423350"/>
            <a:ext cx="4563600" cy="3720000"/>
          </a:xfrm>
          <a:prstGeom prst="rect">
            <a:avLst/>
          </a:prstGeom>
        </p:spPr>
        <p:txBody>
          <a:bodyPr anchorCtr="0" anchor="t" bIns="91425" lIns="91425" spcFirstLastPara="1" rIns="91425" wrap="square" tIns="342000">
            <a:noAutofit/>
          </a:bodyPr>
          <a:lstStyle/>
          <a:p>
            <a:pPr indent="-323850" lvl="0" marL="4572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SSE-Verbindung zum Datenaustausch</a:t>
            </a:r>
            <a:endParaRPr sz="1500">
              <a:solidFill>
                <a:schemeClr val="accent2"/>
              </a:solidFill>
              <a:highlight>
                <a:srgbClr val="31394D"/>
              </a:highlight>
            </a:endParaRPr>
          </a:p>
          <a:p>
            <a:pPr indent="0" lvl="0" marL="457200" rtl="0" algn="l">
              <a:lnSpc>
                <a:spcPct val="120000"/>
              </a:lnSpc>
              <a:spcBef>
                <a:spcPts val="0"/>
              </a:spcBef>
              <a:spcAft>
                <a:spcPts val="0"/>
              </a:spcAft>
              <a:buNone/>
            </a:pPr>
            <a:r>
              <a:rPr lang="de" sz="1500">
                <a:solidFill>
                  <a:schemeClr val="accent2"/>
                </a:solidFill>
                <a:highlight>
                  <a:schemeClr val="dk1"/>
                </a:highlight>
              </a:rPr>
              <a:t>→ keine hohe Übertragungsrate notwendig</a:t>
            </a:r>
            <a:br>
              <a:rPr lang="de" sz="1500">
                <a:solidFill>
                  <a:schemeClr val="accent2"/>
                </a:solidFill>
                <a:highlight>
                  <a:srgbClr val="31394D"/>
                </a:highlight>
              </a:rPr>
            </a:br>
            <a:r>
              <a:rPr lang="de" sz="1500">
                <a:solidFill>
                  <a:schemeClr val="accent2"/>
                </a:solidFill>
                <a:highlight>
                  <a:schemeClr val="dk1"/>
                </a:highlight>
              </a:rPr>
              <a:t>→ effizienter als Websocket</a:t>
            </a:r>
            <a:br>
              <a:rPr lang="de" sz="1500">
                <a:solidFill>
                  <a:schemeClr val="accent2"/>
                </a:solidFill>
                <a:highlight>
                  <a:schemeClr val="dk1"/>
                </a:highlight>
              </a:rPr>
            </a:br>
            <a:endParaRPr sz="1500">
              <a:solidFill>
                <a:schemeClr val="accent2"/>
              </a:solidFill>
              <a:highlight>
                <a:schemeClr val="dk1"/>
              </a:highlight>
            </a:endParaRPr>
          </a:p>
          <a:p>
            <a:pPr indent="-323850" lvl="0" marL="457200" rtl="0" algn="l">
              <a:lnSpc>
                <a:spcPct val="120000"/>
              </a:lnSpc>
              <a:spcBef>
                <a:spcPts val="0"/>
              </a:spcBef>
              <a:spcAft>
                <a:spcPts val="0"/>
              </a:spcAft>
              <a:buClr>
                <a:schemeClr val="accent2"/>
              </a:buClr>
              <a:buSzPts val="1500"/>
              <a:buChar char="●"/>
            </a:pPr>
            <a:r>
              <a:rPr lang="de" sz="1500">
                <a:solidFill>
                  <a:schemeClr val="accent2"/>
                </a:solidFill>
                <a:highlight>
                  <a:schemeClr val="dk1"/>
                </a:highlight>
              </a:rPr>
              <a:t>Client-Heartbeats werden zurückgesendet</a:t>
            </a:r>
            <a:br>
              <a:rPr lang="de" sz="1500">
                <a:solidFill>
                  <a:schemeClr val="accent2"/>
                </a:solidFill>
                <a:highlight>
                  <a:schemeClr val="dk1"/>
                </a:highlight>
              </a:rPr>
            </a:br>
            <a:r>
              <a:rPr lang="de" sz="1500">
                <a:solidFill>
                  <a:schemeClr val="accent2"/>
                </a:solidFill>
                <a:highlight>
                  <a:schemeClr val="dk1"/>
                </a:highlight>
              </a:rPr>
              <a:t>→ </a:t>
            </a:r>
            <a:r>
              <a:rPr lang="de" sz="1500">
                <a:solidFill>
                  <a:schemeClr val="accent2"/>
                </a:solidFill>
                <a:highlight>
                  <a:schemeClr val="dk1"/>
                </a:highlight>
              </a:rPr>
              <a:t>Abbruch von Heartbeat = Disconnect</a:t>
            </a:r>
            <a:endParaRPr sz="1500">
              <a:solidFill>
                <a:schemeClr val="accent2"/>
              </a:solidFill>
              <a:highlight>
                <a:schemeClr val="dk1"/>
              </a:highlight>
            </a:endParaRPr>
          </a:p>
          <a:p>
            <a:pPr indent="0" lvl="0" marL="457200" rtl="0" algn="l">
              <a:lnSpc>
                <a:spcPct val="120000"/>
              </a:lnSpc>
              <a:spcBef>
                <a:spcPts val="0"/>
              </a:spcBef>
              <a:spcAft>
                <a:spcPts val="0"/>
              </a:spcAft>
              <a:buNone/>
            </a:pPr>
            <a:r>
              <a:rPr lang="de" sz="1500">
                <a:solidFill>
                  <a:schemeClr val="accent2"/>
                </a:solidFill>
                <a:highlight>
                  <a:schemeClr val="dk1"/>
                </a:highlight>
              </a:rPr>
              <a:t>→ Synchronisierung mit anderen Spielern</a:t>
            </a:r>
            <a:endParaRPr sz="1500">
              <a:solidFill>
                <a:schemeClr val="accent2"/>
              </a:solidFill>
              <a:highlight>
                <a:schemeClr val="dk1"/>
              </a:highlight>
            </a:endParaRPr>
          </a:p>
        </p:txBody>
      </p:sp>
      <p:pic>
        <p:nvPicPr>
          <p:cNvPr id="121" name="Google Shape;121;p21" title="heartbeat.drawio.png"/>
          <p:cNvPicPr preferRelativeResize="0"/>
          <p:nvPr/>
        </p:nvPicPr>
        <p:blipFill>
          <a:blip r:embed="rId3">
            <a:alphaModFix/>
          </a:blip>
          <a:stretch>
            <a:fillRect/>
          </a:stretch>
        </p:blipFill>
        <p:spPr>
          <a:xfrm>
            <a:off x="5215200" y="2110590"/>
            <a:ext cx="3401950" cy="1173600"/>
          </a:xfrm>
          <a:prstGeom prst="rect">
            <a:avLst/>
          </a:prstGeom>
          <a:noFill/>
          <a:ln>
            <a:noFill/>
          </a:ln>
        </p:spPr>
      </p:pic>
      <p:pic>
        <p:nvPicPr>
          <p:cNvPr id="122" name="Google Shape;122;p21" title="heartbeatgone.drawio.png"/>
          <p:cNvPicPr preferRelativeResize="0"/>
          <p:nvPr/>
        </p:nvPicPr>
        <p:blipFill>
          <a:blip r:embed="rId4">
            <a:alphaModFix/>
          </a:blip>
          <a:stretch>
            <a:fillRect/>
          </a:stretch>
        </p:blipFill>
        <p:spPr>
          <a:xfrm>
            <a:off x="5215195" y="3592965"/>
            <a:ext cx="3401955" cy="1173600"/>
          </a:xfrm>
          <a:prstGeom prst="rect">
            <a:avLst/>
          </a:prstGeom>
          <a:noFill/>
          <a:ln>
            <a:noFill/>
          </a:ln>
        </p:spPr>
      </p:pic>
      <p:pic>
        <p:nvPicPr>
          <p:cNvPr id="123" name="Google Shape;123;p21"/>
          <p:cNvPicPr preferRelativeResize="0"/>
          <p:nvPr/>
        </p:nvPicPr>
        <p:blipFill rotWithShape="1">
          <a:blip r:embed="rId5">
            <a:alphaModFix/>
          </a:blip>
          <a:srcRect b="10899" l="4133" r="4023" t="11971"/>
          <a:stretch/>
        </p:blipFill>
        <p:spPr>
          <a:xfrm>
            <a:off x="5215200" y="439344"/>
            <a:ext cx="3401950" cy="1362481"/>
          </a:xfrm>
          <a:prstGeom prst="rect">
            <a:avLst/>
          </a:prstGeom>
          <a:noFill/>
          <a:ln>
            <a:noFill/>
          </a:ln>
        </p:spPr>
      </p:pic>
      <p:sp>
        <p:nvSpPr>
          <p:cNvPr id="124" name="Google Shape;124;p21"/>
          <p:cNvSpPr/>
          <p:nvPr/>
        </p:nvSpPr>
        <p:spPr>
          <a:xfrm>
            <a:off x="6118925" y="646425"/>
            <a:ext cx="1594500" cy="321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2"/>
          <p:cNvSpPr txBox="1"/>
          <p:nvPr>
            <p:ph type="title"/>
          </p:nvPr>
        </p:nvSpPr>
        <p:spPr>
          <a:xfrm>
            <a:off x="311300" y="500925"/>
            <a:ext cx="3704400" cy="1075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Architektur</a:t>
            </a:r>
            <a:br>
              <a:rPr lang="de"/>
            </a:br>
            <a:r>
              <a:rPr lang="de" sz="2000">
                <a:latin typeface="Merriweather Light"/>
                <a:ea typeface="Merriweather Light"/>
                <a:cs typeface="Merriweather Light"/>
                <a:sym typeface="Merriweather Light"/>
              </a:rPr>
              <a:t>	URL-Design</a:t>
            </a:r>
            <a:endParaRPr sz="2000">
              <a:latin typeface="Merriweather Light"/>
              <a:ea typeface="Merriweather Light"/>
              <a:cs typeface="Merriweather Light"/>
              <a:sym typeface="Merriweather Light"/>
            </a:endParaRPr>
          </a:p>
        </p:txBody>
      </p:sp>
      <p:sp>
        <p:nvSpPr>
          <p:cNvPr id="130" name="Google Shape;130;p22"/>
          <p:cNvSpPr txBox="1"/>
          <p:nvPr>
            <p:ph idx="2" type="body"/>
          </p:nvPr>
        </p:nvSpPr>
        <p:spPr>
          <a:xfrm>
            <a:off x="8300" y="1423350"/>
            <a:ext cx="4563600" cy="3720000"/>
          </a:xfrm>
          <a:prstGeom prst="rect">
            <a:avLst/>
          </a:prstGeom>
        </p:spPr>
        <p:txBody>
          <a:bodyPr anchorCtr="0" anchor="t" bIns="91425" lIns="91425" spcFirstLastPara="1" rIns="91425" wrap="square" tIns="342000">
            <a:noAutofit/>
          </a:bodyPr>
          <a:lstStyle/>
          <a:p>
            <a:pPr indent="-323850" lvl="0" marL="4572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Spiel(“Match”) läuft innerhalb einer Lobby</a:t>
            </a:r>
            <a:endParaRPr sz="1500">
              <a:solidFill>
                <a:schemeClr val="accent2"/>
              </a:solidFill>
              <a:highlight>
                <a:srgbClr val="31394D"/>
              </a:highlight>
            </a:endParaRPr>
          </a:p>
          <a:p>
            <a:pPr indent="0" lvl="0" marL="0" rtl="0" algn="l">
              <a:lnSpc>
                <a:spcPct val="120000"/>
              </a:lnSpc>
              <a:spcBef>
                <a:spcPts val="0"/>
              </a:spcBef>
              <a:spcAft>
                <a:spcPts val="0"/>
              </a:spcAft>
              <a:buNone/>
            </a:pPr>
            <a:r>
              <a:t/>
            </a:r>
            <a:endParaRPr sz="1500">
              <a:solidFill>
                <a:schemeClr val="accent2"/>
              </a:solidFill>
              <a:highlight>
                <a:srgbClr val="31394D"/>
              </a:highlight>
            </a:endParaRPr>
          </a:p>
          <a:p>
            <a:pPr indent="-323850" lvl="0" marL="4572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Lobbies und Matches müssen </a:t>
            </a:r>
            <a:r>
              <a:rPr b="1" lang="de" sz="1500">
                <a:solidFill>
                  <a:schemeClr val="lt1"/>
                </a:solidFill>
                <a:highlight>
                  <a:srgbClr val="31394D"/>
                </a:highlight>
              </a:rPr>
              <a:t>eindeutig</a:t>
            </a:r>
            <a:r>
              <a:rPr lang="de" sz="1500">
                <a:solidFill>
                  <a:schemeClr val="accent2"/>
                </a:solidFill>
                <a:highlight>
                  <a:srgbClr val="31394D"/>
                </a:highlight>
              </a:rPr>
              <a:t> sein</a:t>
            </a:r>
            <a:br>
              <a:rPr lang="de" sz="1500">
                <a:solidFill>
                  <a:schemeClr val="accent2"/>
                </a:solidFill>
                <a:highlight>
                  <a:srgbClr val="31394D"/>
                </a:highlight>
              </a:rPr>
            </a:br>
            <a:endParaRPr sz="1500">
              <a:solidFill>
                <a:schemeClr val="accent2"/>
              </a:solidFill>
              <a:highlight>
                <a:srgbClr val="31394D"/>
              </a:highlight>
            </a:endParaRPr>
          </a:p>
          <a:p>
            <a:pPr indent="-323850" lvl="0" marL="4572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Lobby-Code </a:t>
            </a:r>
            <a:r>
              <a:rPr b="1" lang="de" sz="1500">
                <a:solidFill>
                  <a:schemeClr val="lt1"/>
                </a:solidFill>
                <a:highlight>
                  <a:srgbClr val="31394D"/>
                </a:highlight>
                <a:latin typeface="Consolas"/>
                <a:ea typeface="Consolas"/>
                <a:cs typeface="Consolas"/>
                <a:sym typeface="Consolas"/>
              </a:rPr>
              <a:t>/lobby/[CODE]</a:t>
            </a:r>
            <a:endParaRPr b="1" sz="1500">
              <a:solidFill>
                <a:schemeClr val="lt1"/>
              </a:solidFill>
              <a:highlight>
                <a:srgbClr val="31394D"/>
              </a:highlight>
            </a:endParaRPr>
          </a:p>
          <a:p>
            <a:pPr indent="-323850" lvl="1" marL="9144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Beitritt mit Code (sofern angemeldet)</a:t>
            </a:r>
            <a:endParaRPr sz="1500">
              <a:solidFill>
                <a:schemeClr val="accent2"/>
              </a:solidFill>
              <a:highlight>
                <a:srgbClr val="31394D"/>
              </a:highlight>
            </a:endParaRPr>
          </a:p>
          <a:p>
            <a:pPr indent="-323850" lvl="1" marL="9144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Einfache Abfolge von 7 Zeichen</a:t>
            </a:r>
            <a:br>
              <a:rPr lang="de" sz="1500">
                <a:solidFill>
                  <a:schemeClr val="accent2"/>
                </a:solidFill>
                <a:highlight>
                  <a:srgbClr val="31394D"/>
                </a:highlight>
              </a:rPr>
            </a:br>
            <a:endParaRPr sz="1500">
              <a:solidFill>
                <a:schemeClr val="accent2"/>
              </a:solidFill>
              <a:highlight>
                <a:srgbClr val="31394D"/>
              </a:highlight>
            </a:endParaRPr>
          </a:p>
          <a:p>
            <a:pPr indent="-323850" lvl="0" marL="4572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Match-UUID </a:t>
            </a:r>
            <a:r>
              <a:rPr b="1" lang="de" sz="1500">
                <a:solidFill>
                  <a:schemeClr val="lt1"/>
                </a:solidFill>
                <a:highlight>
                  <a:schemeClr val="dk1"/>
                </a:highlight>
                <a:latin typeface="Consolas"/>
                <a:ea typeface="Consolas"/>
                <a:cs typeface="Consolas"/>
                <a:sym typeface="Consolas"/>
              </a:rPr>
              <a:t>/match/[UUID]</a:t>
            </a:r>
            <a:endParaRPr b="1" sz="1500">
              <a:solidFill>
                <a:schemeClr val="lt1"/>
              </a:solidFill>
              <a:highlight>
                <a:srgbClr val="31394D"/>
              </a:highlight>
            </a:endParaRPr>
          </a:p>
          <a:p>
            <a:pPr indent="-323850" lvl="1" marL="9144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Eindeutige Zuordnung ohne Dopplung</a:t>
            </a:r>
            <a:endParaRPr sz="1500">
              <a:solidFill>
                <a:schemeClr val="accent2"/>
              </a:solidFill>
              <a:highlight>
                <a:srgbClr val="31394D"/>
              </a:highlight>
            </a:endParaRPr>
          </a:p>
          <a:p>
            <a:pPr indent="-323850" lvl="1" marL="9144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Ermöglicht Langzeit-Speicherung</a:t>
            </a:r>
            <a:endParaRPr sz="1500">
              <a:solidFill>
                <a:schemeClr val="accent2"/>
              </a:solidFill>
              <a:highlight>
                <a:srgbClr val="31394D"/>
              </a:highlight>
            </a:endParaRPr>
          </a:p>
        </p:txBody>
      </p:sp>
      <p:pic>
        <p:nvPicPr>
          <p:cNvPr id="131" name="Google Shape;131;p22"/>
          <p:cNvPicPr preferRelativeResize="0"/>
          <p:nvPr/>
        </p:nvPicPr>
        <p:blipFill rotWithShape="1">
          <a:blip r:embed="rId3">
            <a:alphaModFix/>
          </a:blip>
          <a:srcRect b="0" l="4425" r="0" t="0"/>
          <a:stretch/>
        </p:blipFill>
        <p:spPr>
          <a:xfrm>
            <a:off x="4572000" y="2815308"/>
            <a:ext cx="4563599" cy="309335"/>
          </a:xfrm>
          <a:prstGeom prst="rect">
            <a:avLst/>
          </a:prstGeom>
          <a:noFill/>
          <a:ln>
            <a:noFill/>
          </a:ln>
        </p:spPr>
      </p:pic>
      <p:pic>
        <p:nvPicPr>
          <p:cNvPr id="132" name="Google Shape;132;p22"/>
          <p:cNvPicPr preferRelativeResize="0"/>
          <p:nvPr/>
        </p:nvPicPr>
        <p:blipFill rotWithShape="1">
          <a:blip r:embed="rId4">
            <a:alphaModFix/>
          </a:blip>
          <a:srcRect b="0" l="4425" r="0" t="0"/>
          <a:stretch/>
        </p:blipFill>
        <p:spPr>
          <a:xfrm>
            <a:off x="4572075" y="3871461"/>
            <a:ext cx="4563446" cy="3093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3"/>
          <p:cNvSpPr txBox="1"/>
          <p:nvPr>
            <p:ph type="title"/>
          </p:nvPr>
        </p:nvSpPr>
        <p:spPr>
          <a:xfrm>
            <a:off x="311300" y="500925"/>
            <a:ext cx="4260600" cy="114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Architektur</a:t>
            </a:r>
            <a:br>
              <a:rPr lang="de"/>
            </a:br>
            <a:r>
              <a:rPr lang="de" sz="2000">
                <a:latin typeface="Merriweather Light"/>
                <a:ea typeface="Merriweather Light"/>
                <a:cs typeface="Merriweather Light"/>
                <a:sym typeface="Merriweather Light"/>
              </a:rPr>
              <a:t>	Qualitäten, die wir verfolgen</a:t>
            </a:r>
            <a:endParaRPr sz="2000">
              <a:latin typeface="Merriweather Light"/>
              <a:ea typeface="Merriweather Light"/>
              <a:cs typeface="Merriweather Light"/>
              <a:sym typeface="Merriweather Light"/>
            </a:endParaRPr>
          </a:p>
        </p:txBody>
      </p:sp>
      <p:graphicFrame>
        <p:nvGraphicFramePr>
          <p:cNvPr id="138" name="Google Shape;138;p23"/>
          <p:cNvGraphicFramePr/>
          <p:nvPr/>
        </p:nvGraphicFramePr>
        <p:xfrm>
          <a:off x="156175" y="1814850"/>
          <a:ext cx="3000000" cy="3000000"/>
        </p:xfrm>
        <a:graphic>
          <a:graphicData uri="http://schemas.openxmlformats.org/drawingml/2006/table">
            <a:tbl>
              <a:tblPr>
                <a:noFill/>
                <a:tableStyleId>{832A8173-9370-4520-85D7-D9BBA490A5A1}</a:tableStyleId>
              </a:tblPr>
              <a:tblGrid>
                <a:gridCol w="1483425"/>
                <a:gridCol w="3024400"/>
                <a:gridCol w="4323825"/>
              </a:tblGrid>
              <a:tr h="369175">
                <a:tc>
                  <a:txBody>
                    <a:bodyPr/>
                    <a:lstStyle/>
                    <a:p>
                      <a:pPr indent="0" lvl="0" marL="0" rtl="0" algn="l">
                        <a:lnSpc>
                          <a:spcPct val="115000"/>
                        </a:lnSpc>
                        <a:spcBef>
                          <a:spcPts val="0"/>
                        </a:spcBef>
                        <a:spcAft>
                          <a:spcPts val="0"/>
                        </a:spcAft>
                        <a:buNone/>
                      </a:pPr>
                      <a:r>
                        <a:rPr b="1" lang="de">
                          <a:solidFill>
                            <a:schemeClr val="lt1"/>
                          </a:solidFill>
                          <a:latin typeface="Roboto"/>
                          <a:ea typeface="Roboto"/>
                          <a:cs typeface="Roboto"/>
                          <a:sym typeface="Roboto"/>
                        </a:rPr>
                        <a:t>Attribut</a:t>
                      </a:r>
                      <a:endParaRPr b="1">
                        <a:solidFill>
                          <a:schemeClr val="lt1"/>
                        </a:solidFill>
                        <a:latin typeface="Roboto"/>
                        <a:ea typeface="Roboto"/>
                        <a:cs typeface="Roboto"/>
                        <a:sym typeface="Roboto"/>
                      </a:endParaRPr>
                    </a:p>
                  </a:txBody>
                  <a:tcPr marT="76200" marB="762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de">
                          <a:solidFill>
                            <a:schemeClr val="lt1"/>
                          </a:solidFill>
                          <a:latin typeface="Roboto"/>
                          <a:ea typeface="Roboto"/>
                          <a:cs typeface="Roboto"/>
                          <a:sym typeface="Roboto"/>
                        </a:rPr>
                        <a:t>Gründe</a:t>
                      </a:r>
                      <a:endParaRPr b="1">
                        <a:solidFill>
                          <a:schemeClr val="lt1"/>
                        </a:solidFill>
                        <a:latin typeface="Roboto"/>
                        <a:ea typeface="Roboto"/>
                        <a:cs typeface="Roboto"/>
                        <a:sym typeface="Roboto"/>
                      </a:endParaRPr>
                    </a:p>
                  </a:txBody>
                  <a:tcPr marT="76200" marB="762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de">
                          <a:solidFill>
                            <a:schemeClr val="lt1"/>
                          </a:solidFill>
                          <a:latin typeface="Roboto"/>
                          <a:ea typeface="Roboto"/>
                          <a:cs typeface="Roboto"/>
                          <a:sym typeface="Roboto"/>
                        </a:rPr>
                        <a:t>Umsetzung</a:t>
                      </a:r>
                      <a:endParaRPr b="1">
                        <a:solidFill>
                          <a:schemeClr val="lt1"/>
                        </a:solidFill>
                        <a:latin typeface="Roboto"/>
                        <a:ea typeface="Roboto"/>
                        <a:cs typeface="Roboto"/>
                        <a:sym typeface="Roboto"/>
                      </a:endParaRPr>
                    </a:p>
                  </a:txBody>
                  <a:tcPr marT="76200" marB="762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369175">
                <a:tc>
                  <a:txBody>
                    <a:bodyPr/>
                    <a:lstStyle/>
                    <a:p>
                      <a:pPr indent="0" lvl="0" marL="0" rtl="0" algn="l">
                        <a:lnSpc>
                          <a:spcPct val="115000"/>
                        </a:lnSpc>
                        <a:spcBef>
                          <a:spcPts val="0"/>
                        </a:spcBef>
                        <a:spcAft>
                          <a:spcPts val="0"/>
                        </a:spcAft>
                        <a:buNone/>
                      </a:pPr>
                      <a:r>
                        <a:rPr b="1" lang="de">
                          <a:latin typeface="Roboto"/>
                          <a:ea typeface="Roboto"/>
                          <a:cs typeface="Roboto"/>
                          <a:sym typeface="Roboto"/>
                        </a:rPr>
                        <a:t>Modifiability</a:t>
                      </a:r>
                      <a:endParaRPr b="1">
                        <a:latin typeface="Roboto"/>
                        <a:ea typeface="Roboto"/>
                        <a:cs typeface="Roboto"/>
                        <a:sym typeface="Roboto"/>
                      </a:endParaRPr>
                    </a:p>
                  </a:txBody>
                  <a:tcPr marT="76200" marB="762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DDDD"/>
                    </a:solidFill>
                  </a:tcPr>
                </a:tc>
                <a:tc>
                  <a:txBody>
                    <a:bodyPr/>
                    <a:lstStyle/>
                    <a:p>
                      <a:pPr indent="0" lvl="0" marL="0" rtl="0" algn="l">
                        <a:lnSpc>
                          <a:spcPct val="115000"/>
                        </a:lnSpc>
                        <a:spcBef>
                          <a:spcPts val="0"/>
                        </a:spcBef>
                        <a:spcAft>
                          <a:spcPts val="0"/>
                        </a:spcAft>
                        <a:buNone/>
                      </a:pPr>
                      <a:r>
                        <a:rPr lang="de">
                          <a:latin typeface="Roboto"/>
                          <a:ea typeface="Roboto"/>
                          <a:cs typeface="Roboto"/>
                          <a:sym typeface="Roboto"/>
                        </a:rPr>
                        <a:t>Neue Features einfach hinzufügen</a:t>
                      </a:r>
                      <a:endParaRPr>
                        <a:latin typeface="Roboto"/>
                        <a:ea typeface="Roboto"/>
                        <a:cs typeface="Roboto"/>
                        <a:sym typeface="Roboto"/>
                      </a:endParaRPr>
                    </a:p>
                  </a:txBody>
                  <a:tcPr marT="76200" marB="762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de">
                          <a:latin typeface="Roboto"/>
                          <a:ea typeface="Roboto"/>
                          <a:cs typeface="Roboto"/>
                          <a:sym typeface="Roboto"/>
                        </a:rPr>
                        <a:t>Abstraktion in Klassen/Interfaces</a:t>
                      </a:r>
                      <a:endParaRPr>
                        <a:latin typeface="Roboto"/>
                        <a:ea typeface="Roboto"/>
                        <a:cs typeface="Roboto"/>
                        <a:sym typeface="Roboto"/>
                      </a:endParaRPr>
                    </a:p>
                  </a:txBody>
                  <a:tcPr marT="76200" marB="762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369175">
                <a:tc>
                  <a:txBody>
                    <a:bodyPr/>
                    <a:lstStyle/>
                    <a:p>
                      <a:pPr indent="0" lvl="0" marL="0" rtl="0" algn="l">
                        <a:lnSpc>
                          <a:spcPct val="115000"/>
                        </a:lnSpc>
                        <a:spcBef>
                          <a:spcPts val="0"/>
                        </a:spcBef>
                        <a:spcAft>
                          <a:spcPts val="0"/>
                        </a:spcAft>
                        <a:buNone/>
                      </a:pPr>
                      <a:r>
                        <a:rPr b="1" lang="de">
                          <a:latin typeface="Roboto"/>
                          <a:ea typeface="Roboto"/>
                          <a:cs typeface="Roboto"/>
                          <a:sym typeface="Roboto"/>
                        </a:rPr>
                        <a:t>Interoperability</a:t>
                      </a:r>
                      <a:endParaRPr b="1">
                        <a:latin typeface="Roboto"/>
                        <a:ea typeface="Roboto"/>
                        <a:cs typeface="Roboto"/>
                        <a:sym typeface="Roboto"/>
                      </a:endParaRPr>
                    </a:p>
                  </a:txBody>
                  <a:tcPr marT="76200" marB="762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DDDD"/>
                    </a:solidFill>
                  </a:tcPr>
                </a:tc>
                <a:tc>
                  <a:txBody>
                    <a:bodyPr/>
                    <a:lstStyle/>
                    <a:p>
                      <a:pPr indent="0" lvl="0" marL="0" rtl="0" algn="l">
                        <a:lnSpc>
                          <a:spcPct val="115000"/>
                        </a:lnSpc>
                        <a:spcBef>
                          <a:spcPts val="0"/>
                        </a:spcBef>
                        <a:spcAft>
                          <a:spcPts val="0"/>
                        </a:spcAft>
                        <a:buNone/>
                      </a:pPr>
                      <a:r>
                        <a:rPr lang="de">
                          <a:latin typeface="Roboto"/>
                          <a:ea typeface="Roboto"/>
                          <a:cs typeface="Roboto"/>
                          <a:sym typeface="Roboto"/>
                        </a:rPr>
                        <a:t>Verbindungsabbruch erkannt</a:t>
                      </a:r>
                      <a:endParaRPr>
                        <a:latin typeface="Roboto"/>
                        <a:ea typeface="Roboto"/>
                        <a:cs typeface="Roboto"/>
                        <a:sym typeface="Roboto"/>
                      </a:endParaRPr>
                    </a:p>
                  </a:txBody>
                  <a:tcPr marT="76200" marB="762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de">
                          <a:latin typeface="Roboto"/>
                          <a:ea typeface="Roboto"/>
                          <a:cs typeface="Roboto"/>
                          <a:sym typeface="Roboto"/>
                        </a:rPr>
                        <a:t>Heartbeat, Timeout-Erkennung</a:t>
                      </a:r>
                      <a:endParaRPr>
                        <a:latin typeface="Roboto"/>
                        <a:ea typeface="Roboto"/>
                        <a:cs typeface="Roboto"/>
                        <a:sym typeface="Roboto"/>
                      </a:endParaRPr>
                    </a:p>
                  </a:txBody>
                  <a:tcPr marT="76200" marB="762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373400">
                <a:tc>
                  <a:txBody>
                    <a:bodyPr/>
                    <a:lstStyle/>
                    <a:p>
                      <a:pPr indent="0" lvl="0" marL="0" rtl="0" algn="l">
                        <a:lnSpc>
                          <a:spcPct val="115000"/>
                        </a:lnSpc>
                        <a:spcBef>
                          <a:spcPts val="0"/>
                        </a:spcBef>
                        <a:spcAft>
                          <a:spcPts val="0"/>
                        </a:spcAft>
                        <a:buNone/>
                      </a:pPr>
                      <a:r>
                        <a:rPr b="1" lang="de">
                          <a:latin typeface="Roboto"/>
                          <a:ea typeface="Roboto"/>
                          <a:cs typeface="Roboto"/>
                          <a:sym typeface="Roboto"/>
                        </a:rPr>
                        <a:t>Usability</a:t>
                      </a:r>
                      <a:endParaRPr b="1">
                        <a:latin typeface="Roboto"/>
                        <a:ea typeface="Roboto"/>
                        <a:cs typeface="Roboto"/>
                        <a:sym typeface="Roboto"/>
                      </a:endParaRPr>
                    </a:p>
                  </a:txBody>
                  <a:tcPr marT="76200" marB="762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DDDD"/>
                    </a:solidFill>
                  </a:tcPr>
                </a:tc>
                <a:tc>
                  <a:txBody>
                    <a:bodyPr/>
                    <a:lstStyle/>
                    <a:p>
                      <a:pPr indent="0" lvl="0" marL="0" rtl="0" algn="l">
                        <a:lnSpc>
                          <a:spcPct val="115000"/>
                        </a:lnSpc>
                        <a:spcBef>
                          <a:spcPts val="0"/>
                        </a:spcBef>
                        <a:spcAft>
                          <a:spcPts val="0"/>
                        </a:spcAft>
                        <a:buNone/>
                      </a:pPr>
                      <a:r>
                        <a:rPr lang="de">
                          <a:latin typeface="Roboto"/>
                          <a:ea typeface="Roboto"/>
                          <a:cs typeface="Roboto"/>
                          <a:sym typeface="Roboto"/>
                        </a:rPr>
                        <a:t>Intuitive Steuerung, Fehler-Feedback</a:t>
                      </a:r>
                      <a:endParaRPr>
                        <a:latin typeface="Roboto"/>
                        <a:ea typeface="Roboto"/>
                        <a:cs typeface="Roboto"/>
                        <a:sym typeface="Roboto"/>
                      </a:endParaRPr>
                    </a:p>
                  </a:txBody>
                  <a:tcPr marT="76200" marB="762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de">
                          <a:latin typeface="Roboto"/>
                          <a:ea typeface="Roboto"/>
                          <a:cs typeface="Roboto"/>
                          <a:sym typeface="Roboto"/>
                        </a:rPr>
                        <a:t>Klare UI, aussagekräftige Error-Messages</a:t>
                      </a:r>
                      <a:endParaRPr>
                        <a:latin typeface="Roboto"/>
                        <a:ea typeface="Roboto"/>
                        <a:cs typeface="Roboto"/>
                        <a:sym typeface="Roboto"/>
                      </a:endParaRPr>
                    </a:p>
                  </a:txBody>
                  <a:tcPr marT="76200" marB="762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369175">
                <a:tc>
                  <a:txBody>
                    <a:bodyPr/>
                    <a:lstStyle/>
                    <a:p>
                      <a:pPr indent="0" lvl="0" marL="0" rtl="0" algn="l">
                        <a:lnSpc>
                          <a:spcPct val="115000"/>
                        </a:lnSpc>
                        <a:spcBef>
                          <a:spcPts val="0"/>
                        </a:spcBef>
                        <a:spcAft>
                          <a:spcPts val="0"/>
                        </a:spcAft>
                        <a:buNone/>
                      </a:pPr>
                      <a:r>
                        <a:rPr b="1" lang="de">
                          <a:latin typeface="Roboto"/>
                          <a:ea typeface="Roboto"/>
                          <a:cs typeface="Roboto"/>
                          <a:sym typeface="Roboto"/>
                        </a:rPr>
                        <a:t>Efficiency</a:t>
                      </a:r>
                      <a:endParaRPr b="1">
                        <a:latin typeface="Roboto"/>
                        <a:ea typeface="Roboto"/>
                        <a:cs typeface="Roboto"/>
                        <a:sym typeface="Roboto"/>
                      </a:endParaRPr>
                    </a:p>
                  </a:txBody>
                  <a:tcPr marT="76200" marB="762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DDDD"/>
                    </a:solidFill>
                  </a:tcPr>
                </a:tc>
                <a:tc>
                  <a:txBody>
                    <a:bodyPr/>
                    <a:lstStyle/>
                    <a:p>
                      <a:pPr indent="0" lvl="0" marL="0" rtl="0" algn="l">
                        <a:lnSpc>
                          <a:spcPct val="115000"/>
                        </a:lnSpc>
                        <a:spcBef>
                          <a:spcPts val="0"/>
                        </a:spcBef>
                        <a:spcAft>
                          <a:spcPts val="0"/>
                        </a:spcAft>
                        <a:buNone/>
                      </a:pPr>
                      <a:r>
                        <a:rPr lang="de">
                          <a:latin typeface="Roboto"/>
                          <a:ea typeface="Roboto"/>
                          <a:cs typeface="Roboto"/>
                          <a:sym typeface="Roboto"/>
                        </a:rPr>
                        <a:t>Ressourcenschonung</a:t>
                      </a:r>
                      <a:endParaRPr>
                        <a:latin typeface="Roboto"/>
                        <a:ea typeface="Roboto"/>
                        <a:cs typeface="Roboto"/>
                        <a:sym typeface="Roboto"/>
                      </a:endParaRPr>
                    </a:p>
                  </a:txBody>
                  <a:tcPr marT="76200" marB="762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de">
                          <a:latin typeface="Roboto"/>
                          <a:ea typeface="Roboto"/>
                          <a:cs typeface="Roboto"/>
                          <a:sym typeface="Roboto"/>
                        </a:rPr>
                        <a:t>Caching, Lobby-Freigabe, RAM-Cleanup</a:t>
                      </a:r>
                      <a:endParaRPr>
                        <a:latin typeface="Roboto"/>
                        <a:ea typeface="Roboto"/>
                        <a:cs typeface="Roboto"/>
                        <a:sym typeface="Roboto"/>
                      </a:endParaRPr>
                    </a:p>
                  </a:txBody>
                  <a:tcPr marT="76200" marB="762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369175">
                <a:tc>
                  <a:txBody>
                    <a:bodyPr/>
                    <a:lstStyle/>
                    <a:p>
                      <a:pPr indent="0" lvl="0" marL="0" rtl="0" algn="l">
                        <a:lnSpc>
                          <a:spcPct val="115000"/>
                        </a:lnSpc>
                        <a:spcBef>
                          <a:spcPts val="0"/>
                        </a:spcBef>
                        <a:spcAft>
                          <a:spcPts val="0"/>
                        </a:spcAft>
                        <a:buNone/>
                      </a:pPr>
                      <a:r>
                        <a:rPr b="1" lang="de">
                          <a:latin typeface="Roboto"/>
                          <a:ea typeface="Roboto"/>
                          <a:cs typeface="Roboto"/>
                          <a:sym typeface="Roboto"/>
                        </a:rPr>
                        <a:t>Availability</a:t>
                      </a:r>
                      <a:endParaRPr b="1">
                        <a:latin typeface="Roboto"/>
                        <a:ea typeface="Roboto"/>
                        <a:cs typeface="Roboto"/>
                        <a:sym typeface="Roboto"/>
                      </a:endParaRPr>
                    </a:p>
                  </a:txBody>
                  <a:tcPr marT="76200" marB="762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DDDD"/>
                    </a:solidFill>
                  </a:tcPr>
                </a:tc>
                <a:tc>
                  <a:txBody>
                    <a:bodyPr/>
                    <a:lstStyle/>
                    <a:p>
                      <a:pPr indent="0" lvl="0" marL="0" rtl="0" algn="l">
                        <a:lnSpc>
                          <a:spcPct val="115000"/>
                        </a:lnSpc>
                        <a:spcBef>
                          <a:spcPts val="0"/>
                        </a:spcBef>
                        <a:spcAft>
                          <a:spcPts val="0"/>
                        </a:spcAft>
                        <a:buNone/>
                      </a:pPr>
                      <a:r>
                        <a:rPr lang="de">
                          <a:latin typeface="Roboto"/>
                          <a:ea typeface="Roboto"/>
                          <a:cs typeface="Roboto"/>
                          <a:sym typeface="Roboto"/>
                        </a:rPr>
                        <a:t>Spam</a:t>
                      </a:r>
                      <a:r>
                        <a:rPr lang="de">
                          <a:latin typeface="Roboto"/>
                          <a:ea typeface="Roboto"/>
                          <a:cs typeface="Roboto"/>
                          <a:sym typeface="Roboto"/>
                        </a:rPr>
                        <a:t>-Schutz für Lobbies</a:t>
                      </a:r>
                      <a:endParaRPr>
                        <a:latin typeface="Roboto"/>
                        <a:ea typeface="Roboto"/>
                        <a:cs typeface="Roboto"/>
                        <a:sym typeface="Roboto"/>
                      </a:endParaRPr>
                    </a:p>
                  </a:txBody>
                  <a:tcPr marT="76200" marB="762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de">
                          <a:latin typeface="Roboto"/>
                          <a:ea typeface="Roboto"/>
                          <a:cs typeface="Roboto"/>
                          <a:sym typeface="Roboto"/>
                        </a:rPr>
                        <a:t>Token-Caching, Request-Limits</a:t>
                      </a:r>
                      <a:endParaRPr>
                        <a:latin typeface="Roboto"/>
                        <a:ea typeface="Roboto"/>
                        <a:cs typeface="Roboto"/>
                        <a:sym typeface="Roboto"/>
                      </a:endParaRPr>
                    </a:p>
                  </a:txBody>
                  <a:tcPr marT="76200" marB="762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373400">
                <a:tc>
                  <a:txBody>
                    <a:bodyPr/>
                    <a:lstStyle/>
                    <a:p>
                      <a:pPr indent="0" lvl="0" marL="0" rtl="0" algn="l">
                        <a:lnSpc>
                          <a:spcPct val="115000"/>
                        </a:lnSpc>
                        <a:spcBef>
                          <a:spcPts val="0"/>
                        </a:spcBef>
                        <a:spcAft>
                          <a:spcPts val="0"/>
                        </a:spcAft>
                        <a:buNone/>
                      </a:pPr>
                      <a:r>
                        <a:rPr b="1" lang="de">
                          <a:latin typeface="Roboto"/>
                          <a:ea typeface="Roboto"/>
                          <a:cs typeface="Roboto"/>
                          <a:sym typeface="Roboto"/>
                        </a:rPr>
                        <a:t>Maintainability</a:t>
                      </a:r>
                      <a:endParaRPr b="1">
                        <a:latin typeface="Roboto"/>
                        <a:ea typeface="Roboto"/>
                        <a:cs typeface="Roboto"/>
                        <a:sym typeface="Roboto"/>
                      </a:endParaRPr>
                    </a:p>
                  </a:txBody>
                  <a:tcPr marT="76200" marB="762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DDDDD"/>
                    </a:solidFill>
                  </a:tcPr>
                </a:tc>
                <a:tc>
                  <a:txBody>
                    <a:bodyPr/>
                    <a:lstStyle/>
                    <a:p>
                      <a:pPr indent="0" lvl="0" marL="0" rtl="0" algn="l">
                        <a:lnSpc>
                          <a:spcPct val="115000"/>
                        </a:lnSpc>
                        <a:spcBef>
                          <a:spcPts val="0"/>
                        </a:spcBef>
                        <a:spcAft>
                          <a:spcPts val="0"/>
                        </a:spcAft>
                        <a:buNone/>
                      </a:pPr>
                      <a:r>
                        <a:rPr lang="de">
                          <a:latin typeface="Roboto"/>
                          <a:ea typeface="Roboto"/>
                          <a:cs typeface="Roboto"/>
                          <a:sym typeface="Roboto"/>
                        </a:rPr>
                        <a:t>Fehler-Tracking &amp; Updates</a:t>
                      </a:r>
                      <a:endParaRPr>
                        <a:latin typeface="Roboto"/>
                        <a:ea typeface="Roboto"/>
                        <a:cs typeface="Roboto"/>
                        <a:sym typeface="Roboto"/>
                      </a:endParaRPr>
                    </a:p>
                  </a:txBody>
                  <a:tcPr marT="76200" marB="762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de">
                          <a:latin typeface="Roboto"/>
                          <a:ea typeface="Roboto"/>
                          <a:cs typeface="Roboto"/>
                          <a:sym typeface="Roboto"/>
                        </a:rPr>
                        <a:t>Logging, CI/CD (GitHub Pages, Container-Neustart)</a:t>
                      </a:r>
                      <a:endParaRPr>
                        <a:latin typeface="Roboto"/>
                        <a:ea typeface="Roboto"/>
                        <a:cs typeface="Roboto"/>
                        <a:sym typeface="Roboto"/>
                      </a:endParaRPr>
                    </a:p>
                  </a:txBody>
                  <a:tcPr marT="76200" marB="762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4"/>
          <p:cNvSpPr txBox="1"/>
          <p:nvPr>
            <p:ph type="ctrTitle"/>
          </p:nvPr>
        </p:nvSpPr>
        <p:spPr>
          <a:xfrm>
            <a:off x="1439800" y="1215175"/>
            <a:ext cx="6345600" cy="1243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de"/>
              <a:t>Tech-Stack</a:t>
            </a:r>
            <a:endParaRPr/>
          </a:p>
          <a:p>
            <a:pPr indent="0" lvl="0" marL="0" rtl="0" algn="ctr">
              <a:spcBef>
                <a:spcPts val="0"/>
              </a:spcBef>
              <a:spcAft>
                <a:spcPts val="0"/>
              </a:spcAft>
              <a:buNone/>
            </a:pPr>
            <a:r>
              <a:t/>
            </a:r>
            <a:endParaRPr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5"/>
          <p:cNvSpPr txBox="1"/>
          <p:nvPr>
            <p:ph type="title"/>
          </p:nvPr>
        </p:nvSpPr>
        <p:spPr>
          <a:xfrm>
            <a:off x="311300" y="500925"/>
            <a:ext cx="4260600" cy="114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Tech-Stack</a:t>
            </a:r>
            <a:br>
              <a:rPr lang="de"/>
            </a:br>
            <a:r>
              <a:rPr lang="de" sz="2000">
                <a:latin typeface="Merriweather Light"/>
                <a:ea typeface="Merriweather Light"/>
                <a:cs typeface="Merriweather Light"/>
                <a:sym typeface="Merriweather Light"/>
              </a:rPr>
              <a:t>	Übersicht</a:t>
            </a:r>
            <a:endParaRPr sz="2000">
              <a:latin typeface="Merriweather Light"/>
              <a:ea typeface="Merriweather Light"/>
              <a:cs typeface="Merriweather Light"/>
              <a:sym typeface="Merriweather Light"/>
            </a:endParaRPr>
          </a:p>
        </p:txBody>
      </p:sp>
      <p:graphicFrame>
        <p:nvGraphicFramePr>
          <p:cNvPr id="149" name="Google Shape;149;p25"/>
          <p:cNvGraphicFramePr/>
          <p:nvPr/>
        </p:nvGraphicFramePr>
        <p:xfrm>
          <a:off x="1714500" y="1470825"/>
          <a:ext cx="3000000" cy="3000000"/>
        </p:xfrm>
        <a:graphic>
          <a:graphicData uri="http://schemas.openxmlformats.org/drawingml/2006/table">
            <a:tbl>
              <a:tblPr>
                <a:noFill/>
                <a:tableStyleId>{87CC9A44-26F5-41E7-8740-DC66E2CEFB26}</a:tableStyleId>
              </a:tblPr>
              <a:tblGrid>
                <a:gridCol w="1123950"/>
                <a:gridCol w="2228850"/>
                <a:gridCol w="2362200"/>
              </a:tblGrid>
              <a:tr h="12700">
                <a:tc>
                  <a:txBody>
                    <a:bodyPr/>
                    <a:lstStyle/>
                    <a:p>
                      <a:pPr indent="0" lvl="0" marL="0" rtl="0" algn="l">
                        <a:spcBef>
                          <a:spcPts val="0"/>
                        </a:spcBef>
                        <a:spcAft>
                          <a:spcPts val="0"/>
                        </a:spcAft>
                        <a:buNone/>
                      </a:pPr>
                      <a:r>
                        <a:rPr b="1" lang="de">
                          <a:solidFill>
                            <a:srgbClr val="FFFFFF"/>
                          </a:solidFill>
                        </a:rPr>
                        <a:t>Typ</a:t>
                      </a:r>
                      <a:endParaRPr b="1">
                        <a:solidFill>
                          <a:srgbClr val="FFFFFF"/>
                        </a:solidFill>
                      </a:endParaRPr>
                    </a:p>
                  </a:txBody>
                  <a:tcPr marT="63500" marB="63500" marR="63500" marL="63500">
                    <a:solidFill>
                      <a:srgbClr val="31394D"/>
                    </a:solidFill>
                  </a:tcPr>
                </a:tc>
                <a:tc>
                  <a:txBody>
                    <a:bodyPr/>
                    <a:lstStyle/>
                    <a:p>
                      <a:pPr indent="0" lvl="0" marL="0" rtl="0" algn="l">
                        <a:spcBef>
                          <a:spcPts val="0"/>
                        </a:spcBef>
                        <a:spcAft>
                          <a:spcPts val="0"/>
                        </a:spcAft>
                        <a:buNone/>
                      </a:pPr>
                      <a:r>
                        <a:rPr b="1" lang="de">
                          <a:solidFill>
                            <a:srgbClr val="FFFFFF"/>
                          </a:solidFill>
                        </a:rPr>
                        <a:t>Frontend</a:t>
                      </a:r>
                      <a:endParaRPr b="1">
                        <a:solidFill>
                          <a:srgbClr val="FFFFFF"/>
                        </a:solidFill>
                      </a:endParaRPr>
                    </a:p>
                  </a:txBody>
                  <a:tcPr marT="63500" marB="63500" marR="63500" marL="63500">
                    <a:solidFill>
                      <a:srgbClr val="31394D"/>
                    </a:solidFill>
                  </a:tcPr>
                </a:tc>
                <a:tc>
                  <a:txBody>
                    <a:bodyPr/>
                    <a:lstStyle/>
                    <a:p>
                      <a:pPr indent="0" lvl="0" marL="0" rtl="0" algn="l">
                        <a:spcBef>
                          <a:spcPts val="0"/>
                        </a:spcBef>
                        <a:spcAft>
                          <a:spcPts val="0"/>
                        </a:spcAft>
                        <a:buNone/>
                      </a:pPr>
                      <a:r>
                        <a:rPr b="1" lang="de">
                          <a:solidFill>
                            <a:srgbClr val="FFFFFF"/>
                          </a:solidFill>
                        </a:rPr>
                        <a:t>Backend</a:t>
                      </a:r>
                      <a:endParaRPr b="1">
                        <a:solidFill>
                          <a:srgbClr val="FFFFFF"/>
                        </a:solidFill>
                      </a:endParaRPr>
                    </a:p>
                  </a:txBody>
                  <a:tcPr marT="63500" marB="63500" marR="63500" marL="63500">
                    <a:solidFill>
                      <a:srgbClr val="31394D"/>
                    </a:solidFill>
                  </a:tcPr>
                </a:tc>
              </a:tr>
              <a:tr h="12700">
                <a:tc>
                  <a:txBody>
                    <a:bodyPr/>
                    <a:lstStyle/>
                    <a:p>
                      <a:pPr indent="0" lvl="0" marL="0" rtl="0" algn="l">
                        <a:spcBef>
                          <a:spcPts val="0"/>
                        </a:spcBef>
                        <a:spcAft>
                          <a:spcPts val="0"/>
                        </a:spcAft>
                        <a:buNone/>
                      </a:pPr>
                      <a:r>
                        <a:rPr lang="de"/>
                        <a:t>IDE</a:t>
                      </a:r>
                      <a:endParaRPr/>
                    </a:p>
                  </a:txBody>
                  <a:tcPr marT="63500" marB="63500" marR="63500" marL="63500">
                    <a:solidFill>
                      <a:srgbClr val="DDDDDD"/>
                    </a:solidFill>
                  </a:tcPr>
                </a:tc>
                <a:tc>
                  <a:txBody>
                    <a:bodyPr/>
                    <a:lstStyle/>
                    <a:p>
                      <a:pPr indent="0" lvl="0" marL="0" rtl="0" algn="l">
                        <a:lnSpc>
                          <a:spcPct val="115000"/>
                        </a:lnSpc>
                        <a:spcBef>
                          <a:spcPts val="0"/>
                        </a:spcBef>
                        <a:spcAft>
                          <a:spcPts val="0"/>
                        </a:spcAft>
                        <a:buNone/>
                      </a:pPr>
                      <a:r>
                        <a:rPr lang="de" sz="1200"/>
                        <a:t>Visual Studio Code</a:t>
                      </a:r>
                      <a:endParaRPr sz="1200"/>
                    </a:p>
                  </a:txBody>
                  <a:tcPr marT="63500" marB="63500" marR="63500" marL="63500">
                    <a:solidFill>
                      <a:schemeClr val="lt1"/>
                    </a:solidFill>
                  </a:tcPr>
                </a:tc>
                <a:tc>
                  <a:txBody>
                    <a:bodyPr/>
                    <a:lstStyle/>
                    <a:p>
                      <a:pPr indent="0" lvl="0" marL="0" rtl="0" algn="l">
                        <a:lnSpc>
                          <a:spcPct val="115000"/>
                        </a:lnSpc>
                        <a:spcBef>
                          <a:spcPts val="0"/>
                        </a:spcBef>
                        <a:spcAft>
                          <a:spcPts val="0"/>
                        </a:spcAft>
                        <a:buNone/>
                      </a:pPr>
                      <a:r>
                        <a:rPr lang="de" sz="1200"/>
                        <a:t>IntelliJ IDEA</a:t>
                      </a:r>
                      <a:endParaRPr sz="1200"/>
                    </a:p>
                  </a:txBody>
                  <a:tcPr marT="63500" marB="63500" marR="63500" marL="63500">
                    <a:solidFill>
                      <a:schemeClr val="lt1"/>
                    </a:solidFill>
                  </a:tcPr>
                </a:tc>
              </a:tr>
              <a:tr h="12700">
                <a:tc>
                  <a:txBody>
                    <a:bodyPr/>
                    <a:lstStyle/>
                    <a:p>
                      <a:pPr indent="0" lvl="0" marL="0" rtl="0" algn="l">
                        <a:spcBef>
                          <a:spcPts val="0"/>
                        </a:spcBef>
                        <a:spcAft>
                          <a:spcPts val="0"/>
                        </a:spcAft>
                        <a:buNone/>
                      </a:pPr>
                      <a:r>
                        <a:rPr lang="de"/>
                        <a:t>Package Manager</a:t>
                      </a:r>
                      <a:endParaRPr/>
                    </a:p>
                  </a:txBody>
                  <a:tcPr marT="63500" marB="63500" marR="63500" marL="63500">
                    <a:solidFill>
                      <a:srgbClr val="DDDDDD"/>
                    </a:solidFill>
                  </a:tcPr>
                </a:tc>
                <a:tc>
                  <a:txBody>
                    <a:bodyPr/>
                    <a:lstStyle/>
                    <a:p>
                      <a:pPr indent="0" lvl="0" marL="0" rtl="0" algn="l">
                        <a:spcBef>
                          <a:spcPts val="0"/>
                        </a:spcBef>
                        <a:spcAft>
                          <a:spcPts val="0"/>
                        </a:spcAft>
                        <a:buNone/>
                      </a:pPr>
                      <a:r>
                        <a:rPr lang="de" sz="1200"/>
                        <a:t>bun</a:t>
                      </a:r>
                      <a:endParaRPr sz="1200"/>
                    </a:p>
                  </a:txBody>
                  <a:tcPr marT="63500" marB="63500" marR="63500" marL="63500">
                    <a:solidFill>
                      <a:schemeClr val="lt1"/>
                    </a:solidFill>
                  </a:tcPr>
                </a:tc>
                <a:tc>
                  <a:txBody>
                    <a:bodyPr/>
                    <a:lstStyle/>
                    <a:p>
                      <a:pPr indent="0" lvl="0" marL="0" rtl="0" algn="l">
                        <a:spcBef>
                          <a:spcPts val="0"/>
                        </a:spcBef>
                        <a:spcAft>
                          <a:spcPts val="0"/>
                        </a:spcAft>
                        <a:buNone/>
                      </a:pPr>
                      <a:r>
                        <a:rPr lang="de" sz="1200"/>
                        <a:t>gradle</a:t>
                      </a:r>
                      <a:endParaRPr sz="1200"/>
                    </a:p>
                  </a:txBody>
                  <a:tcPr marT="63500" marB="63500" marR="63500" marL="63500">
                    <a:solidFill>
                      <a:schemeClr val="lt1"/>
                    </a:solidFill>
                  </a:tcPr>
                </a:tc>
              </a:tr>
              <a:tr h="12700">
                <a:tc>
                  <a:txBody>
                    <a:bodyPr/>
                    <a:lstStyle/>
                    <a:p>
                      <a:pPr indent="0" lvl="0" marL="0" rtl="0" algn="l">
                        <a:spcBef>
                          <a:spcPts val="0"/>
                        </a:spcBef>
                        <a:spcAft>
                          <a:spcPts val="0"/>
                        </a:spcAft>
                        <a:buNone/>
                      </a:pPr>
                      <a:r>
                        <a:rPr lang="de"/>
                        <a:t>Framework</a:t>
                      </a:r>
                      <a:endParaRPr/>
                    </a:p>
                  </a:txBody>
                  <a:tcPr marT="63500" marB="63500" marR="63500" marL="63500">
                    <a:solidFill>
                      <a:srgbClr val="DDDDDD"/>
                    </a:solidFill>
                  </a:tcPr>
                </a:tc>
                <a:tc>
                  <a:txBody>
                    <a:bodyPr/>
                    <a:lstStyle/>
                    <a:p>
                      <a:pPr indent="0" lvl="0" marL="0" rtl="0" algn="l">
                        <a:spcBef>
                          <a:spcPts val="0"/>
                        </a:spcBef>
                        <a:spcAft>
                          <a:spcPts val="0"/>
                        </a:spcAft>
                        <a:buNone/>
                      </a:pPr>
                      <a:r>
                        <a:rPr lang="de" sz="1200"/>
                        <a:t>React TypeScript</a:t>
                      </a:r>
                      <a:endParaRPr sz="1200"/>
                    </a:p>
                  </a:txBody>
                  <a:tcPr marT="63500" marB="63500" marR="63500" marL="63500">
                    <a:solidFill>
                      <a:schemeClr val="lt1"/>
                    </a:solidFill>
                  </a:tcPr>
                </a:tc>
                <a:tc>
                  <a:txBody>
                    <a:bodyPr/>
                    <a:lstStyle/>
                    <a:p>
                      <a:pPr indent="0" lvl="0" marL="0" rtl="0" algn="l">
                        <a:spcBef>
                          <a:spcPts val="0"/>
                        </a:spcBef>
                        <a:spcAft>
                          <a:spcPts val="0"/>
                        </a:spcAft>
                        <a:buNone/>
                      </a:pPr>
                      <a:r>
                        <a:rPr lang="de" sz="1200"/>
                        <a:t>Java Spring Boot</a:t>
                      </a:r>
                      <a:endParaRPr sz="1200"/>
                    </a:p>
                  </a:txBody>
                  <a:tcPr marT="63500" marB="63500" marR="63500" marL="63500">
                    <a:solidFill>
                      <a:schemeClr val="lt1"/>
                    </a:solidFill>
                  </a:tcPr>
                </a:tc>
              </a:tr>
              <a:tr h="12700">
                <a:tc>
                  <a:txBody>
                    <a:bodyPr/>
                    <a:lstStyle/>
                    <a:p>
                      <a:pPr indent="0" lvl="0" marL="0" rtl="0" algn="l">
                        <a:spcBef>
                          <a:spcPts val="0"/>
                        </a:spcBef>
                        <a:spcAft>
                          <a:spcPts val="0"/>
                        </a:spcAft>
                        <a:buNone/>
                      </a:pPr>
                      <a:r>
                        <a:rPr lang="de"/>
                        <a:t>Tools</a:t>
                      </a:r>
                      <a:endParaRPr/>
                    </a:p>
                  </a:txBody>
                  <a:tcPr marT="63500" marB="63500" marR="63500" marL="63500">
                    <a:solidFill>
                      <a:srgbClr val="DDDDDD"/>
                    </a:solidFill>
                  </a:tcPr>
                </a:tc>
                <a:tc>
                  <a:txBody>
                    <a:bodyPr/>
                    <a:lstStyle/>
                    <a:p>
                      <a:pPr indent="0" lvl="0" marL="0" rtl="0" algn="l">
                        <a:spcBef>
                          <a:spcPts val="0"/>
                        </a:spcBef>
                        <a:spcAft>
                          <a:spcPts val="0"/>
                        </a:spcAft>
                        <a:buNone/>
                      </a:pPr>
                      <a:r>
                        <a:rPr lang="de" sz="1200"/>
                        <a:t>eslint</a:t>
                      </a:r>
                      <a:endParaRPr sz="1200"/>
                    </a:p>
                  </a:txBody>
                  <a:tcPr marT="63500" marB="63500" marR="63500" marL="63500">
                    <a:solidFill>
                      <a:schemeClr val="lt1"/>
                    </a:solidFill>
                  </a:tcPr>
                </a:tc>
                <a:tc>
                  <a:txBody>
                    <a:bodyPr/>
                    <a:lstStyle/>
                    <a:p>
                      <a:pPr indent="0" lvl="0" marL="0" rtl="0" algn="l">
                        <a:spcBef>
                          <a:spcPts val="0"/>
                        </a:spcBef>
                        <a:spcAft>
                          <a:spcPts val="0"/>
                        </a:spcAft>
                        <a:buNone/>
                      </a:pPr>
                      <a:r>
                        <a:rPr lang="de" sz="1200"/>
                        <a:t>Docker, SonarQube, MetricsTree</a:t>
                      </a:r>
                      <a:endParaRPr sz="1200"/>
                    </a:p>
                  </a:txBody>
                  <a:tcPr marT="63500" marB="63500" marR="63500" marL="63500">
                    <a:solidFill>
                      <a:schemeClr val="lt1"/>
                    </a:solidFill>
                  </a:tcPr>
                </a:tc>
              </a:tr>
              <a:tr h="12700">
                <a:tc>
                  <a:txBody>
                    <a:bodyPr/>
                    <a:lstStyle/>
                    <a:p>
                      <a:pPr indent="0" lvl="0" marL="0" rtl="0" algn="l">
                        <a:spcBef>
                          <a:spcPts val="0"/>
                        </a:spcBef>
                        <a:spcAft>
                          <a:spcPts val="0"/>
                        </a:spcAft>
                        <a:buNone/>
                      </a:pPr>
                      <a:r>
                        <a:rPr lang="de"/>
                        <a:t>Plattform</a:t>
                      </a:r>
                      <a:endParaRPr/>
                    </a:p>
                  </a:txBody>
                  <a:tcPr marT="63500" marB="63500" marR="63500" marL="63500">
                    <a:solidFill>
                      <a:srgbClr val="DDDDDD"/>
                    </a:solidFill>
                  </a:tcPr>
                </a:tc>
                <a:tc>
                  <a:txBody>
                    <a:bodyPr/>
                    <a:lstStyle/>
                    <a:p>
                      <a:pPr indent="0" lvl="0" marL="0" rtl="0" algn="l">
                        <a:spcBef>
                          <a:spcPts val="0"/>
                        </a:spcBef>
                        <a:spcAft>
                          <a:spcPts val="0"/>
                        </a:spcAft>
                        <a:buNone/>
                      </a:pPr>
                      <a:r>
                        <a:rPr lang="de" sz="1200"/>
                        <a:t>GitHub Pages</a:t>
                      </a:r>
                      <a:endParaRPr sz="1200"/>
                    </a:p>
                  </a:txBody>
                  <a:tcPr marT="63500" marB="63500" marR="63500" marL="63500">
                    <a:solidFill>
                      <a:schemeClr val="lt1"/>
                    </a:solidFill>
                  </a:tcPr>
                </a:tc>
                <a:tc>
                  <a:txBody>
                    <a:bodyPr/>
                    <a:lstStyle/>
                    <a:p>
                      <a:pPr indent="0" lvl="0" marL="0" rtl="0" algn="l">
                        <a:spcBef>
                          <a:spcPts val="0"/>
                        </a:spcBef>
                        <a:spcAft>
                          <a:spcPts val="0"/>
                        </a:spcAft>
                        <a:buNone/>
                      </a:pPr>
                      <a:r>
                        <a:rPr lang="de" sz="1200"/>
                        <a:t>Render</a:t>
                      </a:r>
                      <a:endParaRPr sz="1200"/>
                    </a:p>
                  </a:txBody>
                  <a:tcPr marT="63500" marB="63500" marR="63500" marL="63500">
                    <a:solidFill>
                      <a:schemeClr val="lt1"/>
                    </a:solidFill>
                  </a:tcPr>
                </a:tc>
              </a:tr>
              <a:tr h="12700">
                <a:tc>
                  <a:txBody>
                    <a:bodyPr/>
                    <a:lstStyle/>
                    <a:p>
                      <a:pPr indent="0" lvl="0" marL="0" rtl="0" algn="l">
                        <a:spcBef>
                          <a:spcPts val="0"/>
                        </a:spcBef>
                        <a:spcAft>
                          <a:spcPts val="0"/>
                        </a:spcAft>
                        <a:buNone/>
                      </a:pPr>
                      <a:r>
                        <a:rPr lang="de"/>
                        <a:t>Wichtigste Bibliotheken</a:t>
                      </a:r>
                      <a:endParaRPr/>
                    </a:p>
                  </a:txBody>
                  <a:tcPr marT="63500" marB="63500" marR="63500" marL="63500">
                    <a:solidFill>
                      <a:srgbClr val="DDDDDD"/>
                    </a:solidFill>
                  </a:tcPr>
                </a:tc>
                <a:tc>
                  <a:txBody>
                    <a:bodyPr/>
                    <a:lstStyle/>
                    <a:p>
                      <a:pPr indent="0" lvl="0" marL="0" rtl="0" algn="l">
                        <a:spcBef>
                          <a:spcPts val="0"/>
                        </a:spcBef>
                        <a:spcAft>
                          <a:spcPts val="0"/>
                        </a:spcAft>
                        <a:buNone/>
                      </a:pPr>
                      <a:r>
                        <a:rPr lang="de" sz="1200"/>
                        <a:t>React (Router, DOM, Select),</a:t>
                      </a:r>
                      <a:r>
                        <a:rPr lang="de" sz="1200"/>
                        <a:t> Sass, </a:t>
                      </a:r>
                      <a:r>
                        <a:rPr lang="de" sz="1200"/>
                        <a:t>Konva, JWT-decode, js-confetti</a:t>
                      </a:r>
                      <a:endParaRPr sz="1200"/>
                    </a:p>
                  </a:txBody>
                  <a:tcPr marT="63500" marB="63500" marR="63500" marL="63500">
                    <a:solidFill>
                      <a:schemeClr val="lt1"/>
                    </a:solidFill>
                  </a:tcPr>
                </a:tc>
                <a:tc>
                  <a:txBody>
                    <a:bodyPr/>
                    <a:lstStyle/>
                    <a:p>
                      <a:pPr indent="0" lvl="0" marL="0" rtl="0" algn="l">
                        <a:spcBef>
                          <a:spcPts val="0"/>
                        </a:spcBef>
                        <a:spcAft>
                          <a:spcPts val="0"/>
                        </a:spcAft>
                        <a:buNone/>
                      </a:pPr>
                      <a:r>
                        <a:rPr lang="de" sz="1200"/>
                        <a:t>Spring Boot (Web, Security, Data JPA),</a:t>
                      </a:r>
                      <a:r>
                        <a:rPr lang="de" sz="1200"/>
                        <a:t> JWT, </a:t>
                      </a:r>
                      <a:r>
                        <a:rPr lang="de" sz="1200"/>
                        <a:t>Lombok</a:t>
                      </a:r>
                      <a:endParaRPr sz="1200"/>
                    </a:p>
                  </a:txBody>
                  <a:tcPr marT="63500" marB="63500" marR="63500" marL="63500">
                    <a:solidFill>
                      <a:schemeClr val="lt1"/>
                    </a:solidFill>
                  </a:tcPr>
                </a:tc>
              </a:tr>
              <a:tr h="292100">
                <a:tc>
                  <a:txBody>
                    <a:bodyPr/>
                    <a:lstStyle/>
                    <a:p>
                      <a:pPr indent="0" lvl="0" marL="0" rtl="0" algn="l">
                        <a:spcBef>
                          <a:spcPts val="0"/>
                        </a:spcBef>
                        <a:spcAft>
                          <a:spcPts val="0"/>
                        </a:spcAft>
                        <a:buNone/>
                      </a:pPr>
                      <a:r>
                        <a:rPr lang="de"/>
                        <a:t>Sonstiges</a:t>
                      </a:r>
                      <a:endParaRPr/>
                    </a:p>
                  </a:txBody>
                  <a:tcPr marT="63500" marB="63500" marR="63500" marL="63500">
                    <a:solidFill>
                      <a:srgbClr val="DDDDDD"/>
                    </a:solidFill>
                  </a:tcPr>
                </a:tc>
                <a:tc gridSpan="2">
                  <a:txBody>
                    <a:bodyPr/>
                    <a:lstStyle/>
                    <a:p>
                      <a:pPr indent="0" lvl="0" marL="0" rtl="0" algn="l">
                        <a:lnSpc>
                          <a:spcPct val="115000"/>
                        </a:lnSpc>
                        <a:spcBef>
                          <a:spcPts val="0"/>
                        </a:spcBef>
                        <a:spcAft>
                          <a:spcPts val="0"/>
                        </a:spcAft>
                        <a:buNone/>
                      </a:pPr>
                      <a:r>
                        <a:rPr lang="de" sz="1200"/>
                        <a:t>Neon (Datenbank-Host), Jira (Projektmanagement)</a:t>
                      </a:r>
                      <a:endParaRPr sz="1200"/>
                    </a:p>
                  </a:txBody>
                  <a:tcPr marT="63500" marB="63500" marR="63500" marL="63500">
                    <a:solidFill>
                      <a:schemeClr val="lt1"/>
                    </a:solidFill>
                  </a:tcPr>
                </a:tc>
                <a:tc hMerge="1"/>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6"/>
          <p:cNvSpPr txBox="1"/>
          <p:nvPr>
            <p:ph idx="2" type="body"/>
          </p:nvPr>
        </p:nvSpPr>
        <p:spPr>
          <a:xfrm>
            <a:off x="152775" y="1249075"/>
            <a:ext cx="4310400" cy="3894300"/>
          </a:xfrm>
          <a:prstGeom prst="rect">
            <a:avLst/>
          </a:prstGeom>
        </p:spPr>
        <p:txBody>
          <a:bodyPr anchorCtr="0" anchor="t" bIns="91425" lIns="91425" spcFirstLastPara="1" rIns="91425" wrap="square" tIns="342000">
            <a:normAutofit/>
          </a:bodyPr>
          <a:lstStyle/>
          <a:p>
            <a:pPr indent="-323850" lvl="0" marL="4572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GitHub</a:t>
            </a:r>
            <a:endParaRPr sz="1500">
              <a:solidFill>
                <a:schemeClr val="accent2"/>
              </a:solidFill>
              <a:highlight>
                <a:srgbClr val="31394D"/>
              </a:highlight>
            </a:endParaRPr>
          </a:p>
          <a:p>
            <a:pPr indent="-323850" lvl="1" marL="9144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Git-Integration</a:t>
            </a:r>
            <a:endParaRPr sz="1500">
              <a:solidFill>
                <a:schemeClr val="accent2"/>
              </a:solidFill>
              <a:highlight>
                <a:srgbClr val="31394D"/>
              </a:highlight>
            </a:endParaRPr>
          </a:p>
          <a:p>
            <a:pPr indent="-323850" lvl="1" marL="9144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Repositories</a:t>
            </a:r>
            <a:endParaRPr sz="1500">
              <a:solidFill>
                <a:schemeClr val="accent2"/>
              </a:solidFill>
              <a:highlight>
                <a:srgbClr val="31394D"/>
              </a:highlight>
            </a:endParaRPr>
          </a:p>
          <a:p>
            <a:pPr indent="-323850" lvl="1" marL="9144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Actions (CI/CD)</a:t>
            </a:r>
            <a:endParaRPr sz="1500">
              <a:solidFill>
                <a:schemeClr val="accent2"/>
              </a:solidFill>
              <a:highlight>
                <a:srgbClr val="31394D"/>
              </a:highlight>
            </a:endParaRPr>
          </a:p>
          <a:p>
            <a:pPr indent="-323850" lvl="0" marL="4572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GitHub Pages</a:t>
            </a:r>
            <a:endParaRPr sz="1500">
              <a:solidFill>
                <a:schemeClr val="accent2"/>
              </a:solidFill>
              <a:highlight>
                <a:srgbClr val="31394D"/>
              </a:highlight>
            </a:endParaRPr>
          </a:p>
          <a:p>
            <a:pPr indent="-323850" lvl="1" marL="9144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Frontend</a:t>
            </a:r>
            <a:endParaRPr sz="1500">
              <a:solidFill>
                <a:schemeClr val="accent2"/>
              </a:solidFill>
              <a:highlight>
                <a:srgbClr val="31394D"/>
              </a:highlight>
            </a:endParaRPr>
          </a:p>
          <a:p>
            <a:pPr indent="-323850" lvl="0" marL="4572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Render</a:t>
            </a:r>
            <a:endParaRPr sz="1500">
              <a:solidFill>
                <a:schemeClr val="accent2"/>
              </a:solidFill>
              <a:highlight>
                <a:srgbClr val="31394D"/>
              </a:highlight>
            </a:endParaRPr>
          </a:p>
          <a:p>
            <a:pPr indent="-323850" lvl="1" marL="9144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Backend</a:t>
            </a:r>
            <a:endParaRPr sz="1500">
              <a:solidFill>
                <a:schemeClr val="accent2"/>
              </a:solidFill>
              <a:highlight>
                <a:srgbClr val="31394D"/>
              </a:highlight>
            </a:endParaRPr>
          </a:p>
          <a:p>
            <a:pPr indent="-323850" lvl="0" marL="4572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Neon</a:t>
            </a:r>
            <a:endParaRPr sz="1500">
              <a:solidFill>
                <a:schemeClr val="accent2"/>
              </a:solidFill>
              <a:highlight>
                <a:srgbClr val="31394D"/>
              </a:highlight>
            </a:endParaRPr>
          </a:p>
          <a:p>
            <a:pPr indent="-323850" lvl="1" marL="9144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Datenbank</a:t>
            </a:r>
            <a:endParaRPr sz="1500">
              <a:solidFill>
                <a:schemeClr val="accent2"/>
              </a:solidFill>
              <a:highlight>
                <a:srgbClr val="31394D"/>
              </a:highlight>
            </a:endParaRPr>
          </a:p>
        </p:txBody>
      </p:sp>
      <p:sp>
        <p:nvSpPr>
          <p:cNvPr id="155" name="Google Shape;155;p26"/>
          <p:cNvSpPr txBox="1"/>
          <p:nvPr>
            <p:ph type="title"/>
          </p:nvPr>
        </p:nvSpPr>
        <p:spPr>
          <a:xfrm>
            <a:off x="311300" y="500925"/>
            <a:ext cx="3704400" cy="795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Plattformen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React</a:t>
            </a:r>
            <a:endParaRPr/>
          </a:p>
        </p:txBody>
      </p:sp>
      <p:sp>
        <p:nvSpPr>
          <p:cNvPr id="161" name="Google Shape;161;p27"/>
          <p:cNvSpPr txBox="1"/>
          <p:nvPr>
            <p:ph idx="1" type="body"/>
          </p:nvPr>
        </p:nvSpPr>
        <p:spPr>
          <a:xfrm>
            <a:off x="0" y="1422750"/>
            <a:ext cx="3745500" cy="37206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de" sz="1500"/>
              <a:t>Framework für Frontend-Entwicklung</a:t>
            </a:r>
            <a:endParaRPr sz="1500"/>
          </a:p>
          <a:p>
            <a:pPr indent="-323850" lvl="0" marL="457200" rtl="0" algn="l">
              <a:spcBef>
                <a:spcPts val="0"/>
              </a:spcBef>
              <a:spcAft>
                <a:spcPts val="0"/>
              </a:spcAft>
              <a:buSzPts val="1500"/>
              <a:buChar char="●"/>
            </a:pPr>
            <a:r>
              <a:rPr lang="de" sz="1500"/>
              <a:t>Erweiterbar mit vielen Libraries</a:t>
            </a:r>
            <a:endParaRPr sz="1500"/>
          </a:p>
        </p:txBody>
      </p:sp>
      <p:pic>
        <p:nvPicPr>
          <p:cNvPr id="162" name="Google Shape;162;p27" title="logo_light.png"/>
          <p:cNvPicPr preferRelativeResize="0"/>
          <p:nvPr/>
        </p:nvPicPr>
        <p:blipFill>
          <a:blip r:embed="rId3">
            <a:alphaModFix/>
          </a:blip>
          <a:stretch>
            <a:fillRect/>
          </a:stretch>
        </p:blipFill>
        <p:spPr>
          <a:xfrm>
            <a:off x="5612400" y="1750101"/>
            <a:ext cx="1936025" cy="1742075"/>
          </a:xfrm>
          <a:prstGeom prst="rect">
            <a:avLst/>
          </a:prstGeom>
          <a:noFill/>
          <a:ln>
            <a:noFill/>
          </a:ln>
        </p:spPr>
      </p:pic>
      <p:sp>
        <p:nvSpPr>
          <p:cNvPr id="163" name="Google Shape;163;p27"/>
          <p:cNvSpPr txBox="1"/>
          <p:nvPr/>
        </p:nvSpPr>
        <p:spPr>
          <a:xfrm>
            <a:off x="3745500" y="4774050"/>
            <a:ext cx="5374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1200">
                <a:solidFill>
                  <a:schemeClr val="dk2"/>
                </a:solidFill>
                <a:latin typeface="Roboto"/>
                <a:ea typeface="Roboto"/>
                <a:cs typeface="Roboto"/>
                <a:sym typeface="Roboto"/>
              </a:rPr>
              <a:t>Quelle: react.dev</a:t>
            </a:r>
            <a:endParaRPr sz="1200">
              <a:solidFill>
                <a:schemeClr val="dk2"/>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8"/>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react-konva</a:t>
            </a:r>
            <a:endParaRPr/>
          </a:p>
        </p:txBody>
      </p:sp>
      <p:sp>
        <p:nvSpPr>
          <p:cNvPr id="169" name="Google Shape;169;p28"/>
          <p:cNvSpPr txBox="1"/>
          <p:nvPr>
            <p:ph idx="1" type="body"/>
          </p:nvPr>
        </p:nvSpPr>
        <p:spPr>
          <a:xfrm>
            <a:off x="0" y="1422750"/>
            <a:ext cx="3745500" cy="372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sz="1500"/>
              <a:t>→ High-Performance Canvas Framework</a:t>
            </a:r>
            <a:endParaRPr sz="1500"/>
          </a:p>
          <a:p>
            <a:pPr indent="0" lvl="0" marL="0" rtl="0" algn="l">
              <a:spcBef>
                <a:spcPts val="1200"/>
              </a:spcBef>
              <a:spcAft>
                <a:spcPts val="0"/>
              </a:spcAft>
              <a:buNone/>
            </a:pPr>
            <a:r>
              <a:rPr lang="de" sz="1500"/>
              <a:t>Erleichtert:</a:t>
            </a:r>
            <a:endParaRPr sz="1500"/>
          </a:p>
          <a:p>
            <a:pPr indent="-323850" lvl="0" marL="457200" rtl="0" algn="l">
              <a:spcBef>
                <a:spcPts val="1200"/>
              </a:spcBef>
              <a:spcAft>
                <a:spcPts val="0"/>
              </a:spcAft>
              <a:buSzPts val="1500"/>
              <a:buChar char="●"/>
            </a:pPr>
            <a:r>
              <a:rPr lang="de" sz="1500"/>
              <a:t>User-Interaktion mit einem Canvas</a:t>
            </a:r>
            <a:endParaRPr sz="1500"/>
          </a:p>
          <a:p>
            <a:pPr indent="-323850" lvl="0" marL="457200" rtl="0" algn="l">
              <a:spcBef>
                <a:spcPts val="0"/>
              </a:spcBef>
              <a:spcAft>
                <a:spcPts val="0"/>
              </a:spcAft>
              <a:buSzPts val="1500"/>
              <a:buChar char="●"/>
            </a:pPr>
            <a:r>
              <a:rPr lang="de" sz="1500"/>
              <a:t>Rendern / Zeichnen von </a:t>
            </a:r>
            <a:r>
              <a:rPr lang="de" sz="1500"/>
              <a:t>„Shapes</a:t>
            </a:r>
            <a:r>
              <a:rPr lang="de" sz="1500"/>
              <a:t>“</a:t>
            </a:r>
            <a:endParaRPr sz="1500"/>
          </a:p>
        </p:txBody>
      </p:sp>
      <p:pic>
        <p:nvPicPr>
          <p:cNvPr id="170" name="Google Shape;170;p28"/>
          <p:cNvPicPr preferRelativeResize="0"/>
          <p:nvPr/>
        </p:nvPicPr>
        <p:blipFill>
          <a:blip r:embed="rId3">
            <a:alphaModFix/>
          </a:blip>
          <a:stretch>
            <a:fillRect/>
          </a:stretch>
        </p:blipFill>
        <p:spPr>
          <a:xfrm>
            <a:off x="4908875" y="1060088"/>
            <a:ext cx="3023325" cy="3023325"/>
          </a:xfrm>
          <a:prstGeom prst="rect">
            <a:avLst/>
          </a:prstGeom>
          <a:noFill/>
          <a:ln>
            <a:noFill/>
          </a:ln>
        </p:spPr>
      </p:pic>
      <p:sp>
        <p:nvSpPr>
          <p:cNvPr id="171" name="Google Shape;171;p28"/>
          <p:cNvSpPr txBox="1"/>
          <p:nvPr/>
        </p:nvSpPr>
        <p:spPr>
          <a:xfrm>
            <a:off x="3745500" y="4774050"/>
            <a:ext cx="5374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1200">
                <a:solidFill>
                  <a:schemeClr val="dk2"/>
                </a:solidFill>
                <a:latin typeface="Roboto"/>
                <a:ea typeface="Roboto"/>
                <a:cs typeface="Roboto"/>
                <a:sym typeface="Roboto"/>
              </a:rPr>
              <a:t>Quelle: https://konvajs.org/docs/react/index.html</a:t>
            </a:r>
            <a:endParaRPr sz="1200">
              <a:solidFill>
                <a:schemeClr val="dk2"/>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9"/>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Spring Boot</a:t>
            </a:r>
            <a:endParaRPr/>
          </a:p>
        </p:txBody>
      </p:sp>
      <p:sp>
        <p:nvSpPr>
          <p:cNvPr id="177" name="Google Shape;177;p29"/>
          <p:cNvSpPr txBox="1"/>
          <p:nvPr>
            <p:ph idx="1" type="body"/>
          </p:nvPr>
        </p:nvSpPr>
        <p:spPr>
          <a:xfrm>
            <a:off x="0" y="1422750"/>
            <a:ext cx="3745500" cy="37206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de" sz="1500"/>
              <a:t>Java Framework</a:t>
            </a:r>
            <a:endParaRPr sz="1500"/>
          </a:p>
          <a:p>
            <a:pPr indent="-323850" lvl="0" marL="457200" rtl="0" algn="l">
              <a:spcBef>
                <a:spcPts val="0"/>
              </a:spcBef>
              <a:spcAft>
                <a:spcPts val="0"/>
              </a:spcAft>
              <a:buSzPts val="1500"/>
              <a:buChar char="●"/>
            </a:pPr>
            <a:r>
              <a:rPr lang="de" sz="1500"/>
              <a:t>Backend</a:t>
            </a:r>
            <a:endParaRPr sz="1500"/>
          </a:p>
          <a:p>
            <a:pPr indent="-323850" lvl="0" marL="457200" rtl="0" algn="l">
              <a:spcBef>
                <a:spcPts val="0"/>
              </a:spcBef>
              <a:spcAft>
                <a:spcPts val="0"/>
              </a:spcAft>
              <a:buSzPts val="1500"/>
              <a:buChar char="●"/>
            </a:pPr>
            <a:r>
              <a:rPr lang="de" sz="1500"/>
              <a:t>Repositories für DB-Zugriff, REST-Controller (Endpunkte), Authentifizierung/Autorisierung, Senden von SSE</a:t>
            </a:r>
            <a:endParaRPr sz="1500"/>
          </a:p>
        </p:txBody>
      </p:sp>
      <p:pic>
        <p:nvPicPr>
          <p:cNvPr id="178" name="Google Shape;178;p29" title="spring-boot.png"/>
          <p:cNvPicPr preferRelativeResize="0"/>
          <p:nvPr/>
        </p:nvPicPr>
        <p:blipFill>
          <a:blip r:embed="rId3">
            <a:alphaModFix/>
          </a:blip>
          <a:stretch>
            <a:fillRect/>
          </a:stretch>
        </p:blipFill>
        <p:spPr>
          <a:xfrm>
            <a:off x="5722100" y="1763624"/>
            <a:ext cx="1799800" cy="1616275"/>
          </a:xfrm>
          <a:prstGeom prst="rect">
            <a:avLst/>
          </a:prstGeom>
          <a:noFill/>
          <a:ln>
            <a:noFill/>
          </a:ln>
        </p:spPr>
      </p:pic>
      <p:sp>
        <p:nvSpPr>
          <p:cNvPr id="179" name="Google Shape;179;p29"/>
          <p:cNvSpPr txBox="1"/>
          <p:nvPr/>
        </p:nvSpPr>
        <p:spPr>
          <a:xfrm>
            <a:off x="3745500" y="4774050"/>
            <a:ext cx="5374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1200">
                <a:solidFill>
                  <a:schemeClr val="dk2"/>
                </a:solidFill>
                <a:latin typeface="Roboto"/>
                <a:ea typeface="Roboto"/>
                <a:cs typeface="Roboto"/>
                <a:sym typeface="Roboto"/>
              </a:rPr>
              <a:t>Quelle: https://spring.io/projects/spring-boot</a:t>
            </a:r>
            <a:endParaRPr sz="1200">
              <a:solidFill>
                <a:schemeClr val="dk2"/>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0"/>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JWT Libraries</a:t>
            </a:r>
            <a:endParaRPr/>
          </a:p>
        </p:txBody>
      </p:sp>
      <p:sp>
        <p:nvSpPr>
          <p:cNvPr id="185" name="Google Shape;185;p30"/>
          <p:cNvSpPr txBox="1"/>
          <p:nvPr>
            <p:ph idx="1" type="body"/>
          </p:nvPr>
        </p:nvSpPr>
        <p:spPr>
          <a:xfrm>
            <a:off x="0" y="1422750"/>
            <a:ext cx="3745500" cy="37206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de" sz="1500"/>
              <a:t>JSON Web Token</a:t>
            </a:r>
            <a:endParaRPr sz="1500"/>
          </a:p>
          <a:p>
            <a:pPr indent="-323850" lvl="0" marL="457200" rtl="0" algn="l">
              <a:spcBef>
                <a:spcPts val="0"/>
              </a:spcBef>
              <a:spcAft>
                <a:spcPts val="0"/>
              </a:spcAft>
              <a:buSzPts val="1500"/>
              <a:buChar char="●"/>
            </a:pPr>
            <a:r>
              <a:rPr lang="de" sz="1500"/>
              <a:t>Frontend:</a:t>
            </a:r>
            <a:endParaRPr sz="1500"/>
          </a:p>
          <a:p>
            <a:pPr indent="-323850" lvl="1" marL="914400" rtl="0" algn="l">
              <a:lnSpc>
                <a:spcPct val="120000"/>
              </a:lnSpc>
              <a:spcBef>
                <a:spcPts val="0"/>
              </a:spcBef>
              <a:spcAft>
                <a:spcPts val="0"/>
              </a:spcAft>
              <a:buSzPts val="1500"/>
              <a:buChar char="○"/>
            </a:pPr>
            <a:r>
              <a:rPr lang="de" sz="1500">
                <a:highlight>
                  <a:schemeClr val="dk1"/>
                </a:highlight>
              </a:rPr>
              <a:t>Auslesen Ablaufzeit</a:t>
            </a:r>
            <a:endParaRPr sz="1500">
              <a:highlight>
                <a:schemeClr val="dk1"/>
              </a:highlight>
            </a:endParaRPr>
          </a:p>
          <a:p>
            <a:pPr indent="0" lvl="0" marL="914400" rtl="0" algn="l">
              <a:lnSpc>
                <a:spcPct val="120000"/>
              </a:lnSpc>
              <a:spcBef>
                <a:spcPts val="0"/>
              </a:spcBef>
              <a:spcAft>
                <a:spcPts val="0"/>
              </a:spcAft>
              <a:buNone/>
            </a:pPr>
            <a:r>
              <a:rPr lang="de" sz="1500">
                <a:highlight>
                  <a:schemeClr val="dk1"/>
                </a:highlight>
              </a:rPr>
              <a:t>→ Rechtzeitig neuen Access-Token anfragen, um nicht authentifizierte Anfragen zu vermeiden</a:t>
            </a:r>
            <a:endParaRPr sz="1500">
              <a:highlight>
                <a:schemeClr val="dk1"/>
              </a:highlight>
            </a:endParaRPr>
          </a:p>
          <a:p>
            <a:pPr indent="-323850" lvl="0" marL="457200" rtl="0" algn="l">
              <a:lnSpc>
                <a:spcPct val="120000"/>
              </a:lnSpc>
              <a:spcBef>
                <a:spcPts val="0"/>
              </a:spcBef>
              <a:spcAft>
                <a:spcPts val="0"/>
              </a:spcAft>
              <a:buSzPts val="1500"/>
              <a:buChar char="●"/>
            </a:pPr>
            <a:r>
              <a:rPr lang="de" sz="1500">
                <a:highlight>
                  <a:schemeClr val="dk1"/>
                </a:highlight>
              </a:rPr>
              <a:t>Backend:</a:t>
            </a:r>
            <a:endParaRPr sz="1500">
              <a:highlight>
                <a:schemeClr val="dk1"/>
              </a:highlight>
            </a:endParaRPr>
          </a:p>
          <a:p>
            <a:pPr indent="-323850" lvl="1" marL="914400" rtl="0" algn="l">
              <a:lnSpc>
                <a:spcPct val="120000"/>
              </a:lnSpc>
              <a:spcBef>
                <a:spcPts val="0"/>
              </a:spcBef>
              <a:spcAft>
                <a:spcPts val="0"/>
              </a:spcAft>
              <a:buSzPts val="1500"/>
              <a:buChar char="○"/>
            </a:pPr>
            <a:r>
              <a:rPr lang="de" sz="1500">
                <a:highlight>
                  <a:schemeClr val="dk1"/>
                </a:highlight>
              </a:rPr>
              <a:t>Prüfen Validität (abgelaufen?, enthaltener User autorisiert?)</a:t>
            </a:r>
            <a:endParaRPr sz="1500">
              <a:highlight>
                <a:schemeClr val="dk1"/>
              </a:highlight>
            </a:endParaRPr>
          </a:p>
          <a:p>
            <a:pPr indent="-323850" lvl="1" marL="914400" rtl="0" algn="l">
              <a:lnSpc>
                <a:spcPct val="120000"/>
              </a:lnSpc>
              <a:spcBef>
                <a:spcPts val="0"/>
              </a:spcBef>
              <a:spcAft>
                <a:spcPts val="0"/>
              </a:spcAft>
              <a:buSzPts val="1500"/>
              <a:buChar char="○"/>
            </a:pPr>
            <a:r>
              <a:rPr lang="de" sz="1500">
                <a:highlight>
                  <a:schemeClr val="dk1"/>
                </a:highlight>
              </a:rPr>
              <a:t>Erstellung von Refresh-/Access-Token</a:t>
            </a:r>
            <a:endParaRPr sz="1500">
              <a:highlight>
                <a:schemeClr val="dk1"/>
              </a:high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1"/>
          <p:cNvSpPr txBox="1"/>
          <p:nvPr>
            <p:ph type="title"/>
          </p:nvPr>
        </p:nvSpPr>
        <p:spPr>
          <a:xfrm>
            <a:off x="311300" y="500925"/>
            <a:ext cx="3704400" cy="808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Jira</a:t>
            </a:r>
            <a:endParaRPr/>
          </a:p>
        </p:txBody>
      </p:sp>
      <p:sp>
        <p:nvSpPr>
          <p:cNvPr id="191" name="Google Shape;191;p31"/>
          <p:cNvSpPr txBox="1"/>
          <p:nvPr>
            <p:ph idx="2" type="body"/>
          </p:nvPr>
        </p:nvSpPr>
        <p:spPr>
          <a:xfrm>
            <a:off x="8300" y="1342425"/>
            <a:ext cx="4310400" cy="4225500"/>
          </a:xfrm>
          <a:prstGeom prst="rect">
            <a:avLst/>
          </a:prstGeom>
        </p:spPr>
        <p:txBody>
          <a:bodyPr anchorCtr="0" anchor="t" bIns="91425" lIns="91425" spcFirstLastPara="1" rIns="91425" wrap="square" tIns="342000">
            <a:normAutofit/>
          </a:bodyPr>
          <a:lstStyle/>
          <a:p>
            <a:pPr indent="-323850" lvl="0" marL="4572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Projektmanagement-Tool</a:t>
            </a:r>
            <a:endParaRPr sz="1500">
              <a:solidFill>
                <a:schemeClr val="accent2"/>
              </a:solidFill>
              <a:highlight>
                <a:srgbClr val="31394D"/>
              </a:highlight>
            </a:endParaRPr>
          </a:p>
          <a:p>
            <a:pPr indent="-323850" lvl="0" marL="4572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Stories, Tasks, Bugs</a:t>
            </a:r>
            <a:endParaRPr sz="1500">
              <a:solidFill>
                <a:schemeClr val="accent2"/>
              </a:solidFill>
              <a:highlight>
                <a:srgbClr val="31394D"/>
              </a:highlight>
            </a:endParaRPr>
          </a:p>
          <a:p>
            <a:pPr indent="-323850" lvl="0" marL="4572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Kanban Board</a:t>
            </a:r>
            <a:endParaRPr sz="1500">
              <a:solidFill>
                <a:schemeClr val="accent2"/>
              </a:solidFill>
              <a:highlight>
                <a:srgbClr val="31394D"/>
              </a:highlight>
            </a:endParaRPr>
          </a:p>
          <a:p>
            <a:pPr indent="-323850" lvl="0" marL="4572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Zuweisung, Prioritäten, </a:t>
            </a:r>
            <a:r>
              <a:rPr lang="de" sz="1500">
                <a:solidFill>
                  <a:schemeClr val="accent2"/>
                </a:solidFill>
                <a:highlight>
                  <a:srgbClr val="31394D"/>
                </a:highlight>
              </a:rPr>
              <a:t>Time Tracking</a:t>
            </a:r>
            <a:endParaRPr sz="1500">
              <a:solidFill>
                <a:schemeClr val="accent2"/>
              </a:solidFill>
              <a:highlight>
                <a:srgbClr val="31394D"/>
              </a:highlight>
            </a:endParaRPr>
          </a:p>
          <a:p>
            <a:pPr indent="-323850" lvl="0" marL="4572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Automations: Erfasste Zeit pro</a:t>
            </a:r>
            <a:endParaRPr sz="1500">
              <a:solidFill>
                <a:schemeClr val="accent2"/>
              </a:solidFill>
              <a:highlight>
                <a:srgbClr val="31394D"/>
              </a:highlight>
            </a:endParaRPr>
          </a:p>
          <a:p>
            <a:pPr indent="-323850" lvl="1" marL="9144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Person</a:t>
            </a:r>
            <a:endParaRPr sz="1500">
              <a:solidFill>
                <a:schemeClr val="accent2"/>
              </a:solidFill>
              <a:highlight>
                <a:srgbClr val="31394D"/>
              </a:highlight>
            </a:endParaRPr>
          </a:p>
          <a:p>
            <a:pPr indent="-323850" lvl="1" marL="9144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Phase (per Tags)</a:t>
            </a:r>
            <a:endParaRPr sz="1500">
              <a:solidFill>
                <a:schemeClr val="accent2"/>
              </a:solidFill>
              <a:highlight>
                <a:srgbClr val="31394D"/>
              </a:highlight>
            </a:endParaRPr>
          </a:p>
          <a:p>
            <a:pPr indent="-323850" lvl="1" marL="9144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Workflow (per Tags)</a:t>
            </a:r>
            <a:endParaRPr sz="1500">
              <a:solidFill>
                <a:schemeClr val="accent2"/>
              </a:solidFill>
              <a:highlight>
                <a:srgbClr val="31394D"/>
              </a:highlight>
            </a:endParaRPr>
          </a:p>
          <a:p>
            <a:pPr indent="0" lvl="0" marL="0" rtl="0" algn="l">
              <a:lnSpc>
                <a:spcPct val="120000"/>
              </a:lnSpc>
              <a:spcBef>
                <a:spcPts val="0"/>
              </a:spcBef>
              <a:spcAft>
                <a:spcPts val="0"/>
              </a:spcAft>
              <a:buNone/>
            </a:pPr>
            <a:r>
              <a:t/>
            </a:r>
            <a:endParaRPr sz="1500">
              <a:solidFill>
                <a:schemeClr val="accent2"/>
              </a:solidFill>
              <a:highlight>
                <a:srgbClr val="31394D"/>
              </a:highlight>
            </a:endParaRPr>
          </a:p>
        </p:txBody>
      </p:sp>
      <p:pic>
        <p:nvPicPr>
          <p:cNvPr id="192" name="Google Shape;192;p31"/>
          <p:cNvPicPr preferRelativeResize="0"/>
          <p:nvPr/>
        </p:nvPicPr>
        <p:blipFill>
          <a:blip r:embed="rId3">
            <a:alphaModFix/>
          </a:blip>
          <a:stretch>
            <a:fillRect/>
          </a:stretch>
        </p:blipFill>
        <p:spPr>
          <a:xfrm>
            <a:off x="5583450" y="2140174"/>
            <a:ext cx="2670025" cy="863150"/>
          </a:xfrm>
          <a:prstGeom prst="rect">
            <a:avLst/>
          </a:prstGeom>
          <a:noFill/>
          <a:ln>
            <a:noFill/>
          </a:ln>
        </p:spPr>
      </p:pic>
      <p:sp>
        <p:nvSpPr>
          <p:cNvPr id="193" name="Google Shape;193;p31"/>
          <p:cNvSpPr txBox="1"/>
          <p:nvPr/>
        </p:nvSpPr>
        <p:spPr>
          <a:xfrm>
            <a:off x="4572000" y="4774200"/>
            <a:ext cx="4572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1200">
                <a:solidFill>
                  <a:schemeClr val="dk2"/>
                </a:solidFill>
                <a:latin typeface="Roboto"/>
                <a:ea typeface="Roboto"/>
                <a:cs typeface="Roboto"/>
                <a:sym typeface="Roboto"/>
              </a:rPr>
              <a:t>Quelle: https://atlassian.design/foundations/logos</a:t>
            </a:r>
            <a:endParaRPr sz="1200">
              <a:solidFill>
                <a:schemeClr val="dk2"/>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2"/>
          <p:cNvSpPr txBox="1"/>
          <p:nvPr>
            <p:ph type="ctrTitle"/>
          </p:nvPr>
        </p:nvSpPr>
        <p:spPr>
          <a:xfrm>
            <a:off x="1803050" y="1391300"/>
            <a:ext cx="5268000" cy="1067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de"/>
              <a:t>Qualitätssicherung</a:t>
            </a:r>
            <a:br>
              <a:rPr lang="de"/>
            </a:br>
            <a:r>
              <a:rPr lang="de" sz="2711"/>
              <a:t>- Test</a:t>
            </a:r>
            <a:r>
              <a:rPr lang="de" sz="2711"/>
              <a:t>s &amp; Metriken -</a:t>
            </a:r>
            <a:endParaRPr sz="2711"/>
          </a:p>
          <a:p>
            <a:pPr indent="0" lvl="0" marL="0" rtl="0" algn="ctr">
              <a:spcBef>
                <a:spcPts val="0"/>
              </a:spcBef>
              <a:spcAft>
                <a:spcPts val="0"/>
              </a:spcAft>
              <a:buNone/>
            </a:pPr>
            <a:r>
              <a:t/>
            </a:r>
            <a:endParaRPr sz="20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3"/>
          <p:cNvSpPr txBox="1"/>
          <p:nvPr>
            <p:ph type="title"/>
          </p:nvPr>
        </p:nvSpPr>
        <p:spPr>
          <a:xfrm>
            <a:off x="311300" y="500925"/>
            <a:ext cx="3704400" cy="808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Tests</a:t>
            </a:r>
            <a:endParaRPr sz="2244">
              <a:latin typeface="Merriweather Light"/>
              <a:ea typeface="Merriweather Light"/>
              <a:cs typeface="Merriweather Light"/>
              <a:sym typeface="Merriweather Light"/>
            </a:endParaRPr>
          </a:p>
        </p:txBody>
      </p:sp>
      <p:sp>
        <p:nvSpPr>
          <p:cNvPr id="204" name="Google Shape;204;p33"/>
          <p:cNvSpPr txBox="1"/>
          <p:nvPr>
            <p:ph idx="2" type="body"/>
          </p:nvPr>
        </p:nvSpPr>
        <p:spPr>
          <a:xfrm>
            <a:off x="8300" y="1342425"/>
            <a:ext cx="4310400" cy="4225500"/>
          </a:xfrm>
          <a:prstGeom prst="rect">
            <a:avLst/>
          </a:prstGeom>
        </p:spPr>
        <p:txBody>
          <a:bodyPr anchorCtr="0" anchor="t" bIns="91425" lIns="91425" spcFirstLastPara="1" rIns="91425" wrap="square" tIns="342000">
            <a:normAutofit/>
          </a:bodyPr>
          <a:lstStyle/>
          <a:p>
            <a:pPr indent="-323850" lvl="0" marL="457200" rtl="0" algn="l">
              <a:lnSpc>
                <a:spcPct val="120000"/>
              </a:lnSpc>
              <a:spcBef>
                <a:spcPts val="0"/>
              </a:spcBef>
              <a:spcAft>
                <a:spcPts val="0"/>
              </a:spcAft>
              <a:buClr>
                <a:schemeClr val="accent2"/>
              </a:buClr>
              <a:buSzPts val="1500"/>
              <a:buChar char="●"/>
            </a:pPr>
            <a:r>
              <a:rPr lang="de" sz="1200">
                <a:solidFill>
                  <a:schemeClr val="accent2"/>
                </a:solidFill>
                <a:highlight>
                  <a:srgbClr val="31394D"/>
                </a:highlight>
              </a:rPr>
              <a:t>Fokus auf Backend, aktuell keine Frontend-Tests</a:t>
            </a:r>
            <a:endParaRPr sz="1200">
              <a:solidFill>
                <a:schemeClr val="accent2"/>
              </a:solidFill>
              <a:highlight>
                <a:srgbClr val="31394D"/>
              </a:highlight>
            </a:endParaRPr>
          </a:p>
          <a:p>
            <a:pPr indent="-304800" lvl="0" marL="457200" rtl="0" algn="l">
              <a:lnSpc>
                <a:spcPct val="120000"/>
              </a:lnSpc>
              <a:spcBef>
                <a:spcPts val="0"/>
              </a:spcBef>
              <a:spcAft>
                <a:spcPts val="0"/>
              </a:spcAft>
              <a:buClr>
                <a:schemeClr val="accent2"/>
              </a:buClr>
              <a:buSzPts val="1200"/>
              <a:buChar char="●"/>
            </a:pPr>
            <a:r>
              <a:rPr lang="de" sz="1200">
                <a:solidFill>
                  <a:schemeClr val="accent2"/>
                </a:solidFill>
                <a:highlight>
                  <a:srgbClr val="31394D"/>
                </a:highlight>
              </a:rPr>
              <a:t>Unit-Tests, Integration-Tests</a:t>
            </a:r>
            <a:endParaRPr sz="1200">
              <a:solidFill>
                <a:schemeClr val="accent2"/>
              </a:solidFill>
              <a:highlight>
                <a:srgbClr val="31394D"/>
              </a:highlight>
            </a:endParaRPr>
          </a:p>
          <a:p>
            <a:pPr indent="-304800" lvl="0" marL="457200" rtl="0" algn="l">
              <a:lnSpc>
                <a:spcPct val="120000"/>
              </a:lnSpc>
              <a:spcBef>
                <a:spcPts val="0"/>
              </a:spcBef>
              <a:spcAft>
                <a:spcPts val="0"/>
              </a:spcAft>
              <a:buClr>
                <a:schemeClr val="accent2"/>
              </a:buClr>
              <a:buSzPts val="1200"/>
              <a:buChar char="●"/>
            </a:pPr>
            <a:r>
              <a:rPr lang="de" sz="1200">
                <a:solidFill>
                  <a:schemeClr val="accent2"/>
                </a:solidFill>
                <a:highlight>
                  <a:schemeClr val="dk1"/>
                </a:highlight>
              </a:rPr>
              <a:t>JUnit, Mockito</a:t>
            </a:r>
            <a:endParaRPr sz="1200">
              <a:solidFill>
                <a:schemeClr val="accent2"/>
              </a:solidFill>
              <a:highlight>
                <a:srgbClr val="31394D"/>
              </a:highlight>
            </a:endParaRPr>
          </a:p>
          <a:p>
            <a:pPr indent="-304800" lvl="0" marL="457200" rtl="0" algn="l">
              <a:lnSpc>
                <a:spcPct val="120000"/>
              </a:lnSpc>
              <a:spcBef>
                <a:spcPts val="0"/>
              </a:spcBef>
              <a:spcAft>
                <a:spcPts val="0"/>
              </a:spcAft>
              <a:buClr>
                <a:schemeClr val="accent2"/>
              </a:buClr>
              <a:buSzPts val="1200"/>
              <a:buChar char="●"/>
            </a:pPr>
            <a:r>
              <a:rPr lang="de" sz="1200">
                <a:solidFill>
                  <a:schemeClr val="accent2"/>
                </a:solidFill>
                <a:highlight>
                  <a:srgbClr val="31394D"/>
                </a:highlight>
              </a:rPr>
              <a:t>Abdeckung: ~36%, Ziel 80%</a:t>
            </a:r>
            <a:endParaRPr sz="1200">
              <a:solidFill>
                <a:schemeClr val="accent2"/>
              </a:solidFill>
              <a:highlight>
                <a:srgbClr val="31394D"/>
              </a:highlight>
            </a:endParaRPr>
          </a:p>
          <a:p>
            <a:pPr indent="-304800" lvl="1" marL="914400" rtl="0" algn="l">
              <a:lnSpc>
                <a:spcPct val="120000"/>
              </a:lnSpc>
              <a:spcBef>
                <a:spcPts val="0"/>
              </a:spcBef>
              <a:spcAft>
                <a:spcPts val="0"/>
              </a:spcAft>
              <a:buClr>
                <a:schemeClr val="accent2"/>
              </a:buClr>
              <a:buSzPts val="1200"/>
              <a:buChar char="○"/>
            </a:pPr>
            <a:r>
              <a:rPr lang="de" sz="1200">
                <a:solidFill>
                  <a:schemeClr val="accent2"/>
                </a:solidFill>
                <a:highlight>
                  <a:srgbClr val="31394D"/>
                </a:highlight>
              </a:rPr>
              <a:t>Tests für lange abgeschlossene Logik (Authentifizierung) nahezu vollständig</a:t>
            </a:r>
            <a:endParaRPr sz="1200">
              <a:solidFill>
                <a:schemeClr val="accent2"/>
              </a:solidFill>
              <a:highlight>
                <a:srgbClr val="31394D"/>
              </a:highlight>
            </a:endParaRPr>
          </a:p>
          <a:p>
            <a:pPr indent="-304800" lvl="1" marL="914400" rtl="0" algn="l">
              <a:lnSpc>
                <a:spcPct val="120000"/>
              </a:lnSpc>
              <a:spcBef>
                <a:spcPts val="0"/>
              </a:spcBef>
              <a:spcAft>
                <a:spcPts val="0"/>
              </a:spcAft>
              <a:buClr>
                <a:schemeClr val="accent2"/>
              </a:buClr>
              <a:buSzPts val="1200"/>
              <a:buChar char="○"/>
            </a:pPr>
            <a:r>
              <a:rPr lang="de" sz="1200">
                <a:solidFill>
                  <a:schemeClr val="accent2"/>
                </a:solidFill>
                <a:highlight>
                  <a:srgbClr val="31394D"/>
                </a:highlight>
              </a:rPr>
              <a:t>Kaum Tests für Lobby- und Spiellogik. (immer wieder Änderungen notwendig, Effizienz bei Fokus auf funktionierendem Spiel)</a:t>
            </a:r>
            <a:endParaRPr sz="1200">
              <a:solidFill>
                <a:schemeClr val="accent2"/>
              </a:solidFill>
              <a:highlight>
                <a:srgbClr val="31394D"/>
              </a:high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4"/>
          <p:cNvSpPr txBox="1"/>
          <p:nvPr>
            <p:ph type="title"/>
          </p:nvPr>
        </p:nvSpPr>
        <p:spPr>
          <a:xfrm>
            <a:off x="311300" y="500925"/>
            <a:ext cx="3704400" cy="808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Metriken</a:t>
            </a:r>
            <a:endParaRPr sz="2244">
              <a:latin typeface="Merriweather Light"/>
              <a:ea typeface="Merriweather Light"/>
              <a:cs typeface="Merriweather Light"/>
              <a:sym typeface="Merriweather Light"/>
            </a:endParaRPr>
          </a:p>
        </p:txBody>
      </p:sp>
      <p:sp>
        <p:nvSpPr>
          <p:cNvPr id="210" name="Google Shape;210;p34"/>
          <p:cNvSpPr txBox="1"/>
          <p:nvPr>
            <p:ph idx="2" type="body"/>
          </p:nvPr>
        </p:nvSpPr>
        <p:spPr>
          <a:xfrm>
            <a:off x="8300" y="1111625"/>
            <a:ext cx="4310400" cy="4456200"/>
          </a:xfrm>
          <a:prstGeom prst="rect">
            <a:avLst/>
          </a:prstGeom>
        </p:spPr>
        <p:txBody>
          <a:bodyPr anchorCtr="0" anchor="t" bIns="91425" lIns="91425" spcFirstLastPara="1" rIns="91425" wrap="square" tIns="342000">
            <a:normAutofit/>
          </a:bodyPr>
          <a:lstStyle/>
          <a:p>
            <a:pPr indent="-323850" lvl="0" marL="457200" rtl="0" algn="l">
              <a:lnSpc>
                <a:spcPct val="120000"/>
              </a:lnSpc>
              <a:spcBef>
                <a:spcPts val="0"/>
              </a:spcBef>
              <a:spcAft>
                <a:spcPts val="0"/>
              </a:spcAft>
              <a:buClr>
                <a:schemeClr val="accent2"/>
              </a:buClr>
              <a:buSzPts val="1500"/>
              <a:buChar char="●"/>
            </a:pPr>
            <a:r>
              <a:rPr lang="de" sz="1200">
                <a:solidFill>
                  <a:schemeClr val="accent2"/>
                </a:solidFill>
                <a:highlight>
                  <a:srgbClr val="31394D"/>
                </a:highlight>
              </a:rPr>
              <a:t>Erhebung durch Jacoco und SonarQube in der CI/CD-Pipeline</a:t>
            </a:r>
            <a:endParaRPr sz="1200">
              <a:solidFill>
                <a:schemeClr val="accent2"/>
              </a:solidFill>
              <a:highlight>
                <a:srgbClr val="31394D"/>
              </a:highlight>
            </a:endParaRPr>
          </a:p>
          <a:p>
            <a:pPr indent="-304800" lvl="1" marL="914400" rtl="0" algn="l">
              <a:lnSpc>
                <a:spcPct val="120000"/>
              </a:lnSpc>
              <a:spcBef>
                <a:spcPts val="0"/>
              </a:spcBef>
              <a:spcAft>
                <a:spcPts val="0"/>
              </a:spcAft>
              <a:buClr>
                <a:schemeClr val="accent2"/>
              </a:buClr>
              <a:buSzPts val="1200"/>
              <a:buChar char="○"/>
            </a:pPr>
            <a:r>
              <a:rPr lang="de" sz="1200">
                <a:solidFill>
                  <a:schemeClr val="accent2"/>
                </a:solidFill>
                <a:highlight>
                  <a:srgbClr val="31394D"/>
                </a:highlight>
              </a:rPr>
              <a:t>Testabdeckung</a:t>
            </a:r>
            <a:endParaRPr sz="1200">
              <a:solidFill>
                <a:schemeClr val="accent2"/>
              </a:solidFill>
              <a:highlight>
                <a:srgbClr val="31394D"/>
              </a:highlight>
            </a:endParaRPr>
          </a:p>
          <a:p>
            <a:pPr indent="-304800" lvl="1" marL="914400" rtl="0" algn="l">
              <a:lnSpc>
                <a:spcPct val="120000"/>
              </a:lnSpc>
              <a:spcBef>
                <a:spcPts val="0"/>
              </a:spcBef>
              <a:spcAft>
                <a:spcPts val="0"/>
              </a:spcAft>
              <a:buClr>
                <a:schemeClr val="accent2"/>
              </a:buClr>
              <a:buSzPts val="1200"/>
              <a:buChar char="○"/>
            </a:pPr>
            <a:r>
              <a:rPr lang="de" sz="1200">
                <a:solidFill>
                  <a:schemeClr val="accent2"/>
                </a:solidFill>
                <a:highlight>
                  <a:srgbClr val="31394D"/>
                </a:highlight>
              </a:rPr>
              <a:t>Projektmetriken und mögliche Probleme (z.B. bzgl. Wartbarkeit)</a:t>
            </a:r>
            <a:endParaRPr sz="1200">
              <a:solidFill>
                <a:schemeClr val="accent2"/>
              </a:solidFill>
              <a:highlight>
                <a:srgbClr val="31394D"/>
              </a:highlight>
            </a:endParaRPr>
          </a:p>
          <a:p>
            <a:pPr indent="-323850" lvl="0" marL="457200" rtl="0" algn="l">
              <a:lnSpc>
                <a:spcPct val="120000"/>
              </a:lnSpc>
              <a:spcBef>
                <a:spcPts val="0"/>
              </a:spcBef>
              <a:spcAft>
                <a:spcPts val="0"/>
              </a:spcAft>
              <a:buClr>
                <a:schemeClr val="accent2"/>
              </a:buClr>
              <a:buSzPts val="1500"/>
              <a:buChar char="●"/>
            </a:pPr>
            <a:r>
              <a:rPr lang="de" sz="1200">
                <a:solidFill>
                  <a:schemeClr val="accent2"/>
                </a:solidFill>
                <a:highlight>
                  <a:srgbClr val="31394D"/>
                </a:highlight>
              </a:rPr>
              <a:t>Manuelle Erhebung durch MetricsTree-Plugin für IntelliJ</a:t>
            </a:r>
            <a:endParaRPr sz="1200">
              <a:solidFill>
                <a:schemeClr val="accent2"/>
              </a:solidFill>
              <a:highlight>
                <a:srgbClr val="31394D"/>
              </a:highlight>
            </a:endParaRPr>
          </a:p>
          <a:p>
            <a:pPr indent="-311150" lvl="1" marL="914400" rtl="0" algn="l">
              <a:lnSpc>
                <a:spcPct val="100000"/>
              </a:lnSpc>
              <a:spcBef>
                <a:spcPts val="0"/>
              </a:spcBef>
              <a:spcAft>
                <a:spcPts val="0"/>
              </a:spcAft>
              <a:buClr>
                <a:schemeClr val="accent2"/>
              </a:buClr>
              <a:buSzPts val="1300"/>
              <a:buChar char="○"/>
            </a:pPr>
            <a:r>
              <a:rPr lang="de" sz="1300">
                <a:solidFill>
                  <a:schemeClr val="accent2"/>
                </a:solidFill>
                <a:highlight>
                  <a:srgbClr val="31394D"/>
                </a:highlight>
              </a:rPr>
              <a:t>Halstead-Metriken (projektweit)</a:t>
            </a:r>
            <a:endParaRPr sz="1300">
              <a:solidFill>
                <a:schemeClr val="accent2"/>
              </a:solidFill>
              <a:highlight>
                <a:srgbClr val="31394D"/>
              </a:highlight>
            </a:endParaRPr>
          </a:p>
          <a:p>
            <a:pPr indent="0" lvl="0" marL="914400" rtl="0" algn="l">
              <a:lnSpc>
                <a:spcPct val="120000"/>
              </a:lnSpc>
              <a:spcBef>
                <a:spcPts val="0"/>
              </a:spcBef>
              <a:spcAft>
                <a:spcPts val="0"/>
              </a:spcAft>
              <a:buNone/>
            </a:pPr>
            <a:r>
              <a:rPr lang="de" sz="1500">
                <a:solidFill>
                  <a:schemeClr val="accent2"/>
                </a:solidFill>
                <a:highlight>
                  <a:schemeClr val="dk1"/>
                </a:highlight>
              </a:rPr>
              <a:t>→ </a:t>
            </a:r>
            <a:r>
              <a:rPr lang="de" sz="1200">
                <a:solidFill>
                  <a:schemeClr val="accent2"/>
                </a:solidFill>
                <a:highlight>
                  <a:schemeClr val="dk1"/>
                </a:highlight>
              </a:rPr>
              <a:t>Im Vergleich zum Blog oft drei-/viermal so viel (z.B. Errors 14 statt 4)</a:t>
            </a:r>
            <a:endParaRPr sz="900">
              <a:solidFill>
                <a:schemeClr val="accent2"/>
              </a:solidFill>
              <a:highlight>
                <a:srgbClr val="31394D"/>
              </a:highlight>
            </a:endParaRPr>
          </a:p>
          <a:p>
            <a:pPr indent="-311150" lvl="1" marL="914400" rtl="0" algn="l">
              <a:lnSpc>
                <a:spcPct val="100000"/>
              </a:lnSpc>
              <a:spcBef>
                <a:spcPts val="0"/>
              </a:spcBef>
              <a:spcAft>
                <a:spcPts val="0"/>
              </a:spcAft>
              <a:buClr>
                <a:schemeClr val="accent2"/>
              </a:buClr>
              <a:buSzPts val="1300"/>
              <a:buChar char="○"/>
            </a:pPr>
            <a:r>
              <a:rPr lang="de" sz="1300">
                <a:solidFill>
                  <a:schemeClr val="accent2"/>
                </a:solidFill>
                <a:highlight>
                  <a:srgbClr val="31394D"/>
                </a:highlight>
              </a:rPr>
              <a:t>Depth-Of-Inheritance-Tree (Klassen)</a:t>
            </a:r>
            <a:endParaRPr sz="1300">
              <a:solidFill>
                <a:schemeClr val="accent2"/>
              </a:solidFill>
              <a:highlight>
                <a:srgbClr val="31394D"/>
              </a:highlight>
            </a:endParaRPr>
          </a:p>
          <a:p>
            <a:pPr indent="0" lvl="0" marL="914400" rtl="0" algn="l">
              <a:lnSpc>
                <a:spcPct val="120000"/>
              </a:lnSpc>
              <a:spcBef>
                <a:spcPts val="0"/>
              </a:spcBef>
              <a:spcAft>
                <a:spcPts val="0"/>
              </a:spcAft>
              <a:buNone/>
            </a:pPr>
            <a:r>
              <a:rPr lang="de" sz="1500">
                <a:solidFill>
                  <a:schemeClr val="accent2"/>
                </a:solidFill>
                <a:highlight>
                  <a:schemeClr val="dk1"/>
                </a:highlight>
              </a:rPr>
              <a:t>→ </a:t>
            </a:r>
            <a:r>
              <a:rPr lang="de" sz="1200">
                <a:solidFill>
                  <a:schemeClr val="accent2"/>
                </a:solidFill>
                <a:highlight>
                  <a:schemeClr val="dk1"/>
                </a:highlight>
              </a:rPr>
              <a:t>&gt;80% gut, max. 6 (1 Klasse)</a:t>
            </a:r>
            <a:endParaRPr sz="900">
              <a:solidFill>
                <a:schemeClr val="accent2"/>
              </a:solidFill>
              <a:highlight>
                <a:srgbClr val="31394D"/>
              </a:highlight>
            </a:endParaRPr>
          </a:p>
          <a:p>
            <a:pPr indent="-311150" lvl="1" marL="914400" rtl="0" algn="l">
              <a:lnSpc>
                <a:spcPct val="120000"/>
              </a:lnSpc>
              <a:spcBef>
                <a:spcPts val="0"/>
              </a:spcBef>
              <a:spcAft>
                <a:spcPts val="0"/>
              </a:spcAft>
              <a:buClr>
                <a:schemeClr val="accent2"/>
              </a:buClr>
              <a:buSzPts val="1300"/>
              <a:buChar char="○"/>
            </a:pPr>
            <a:r>
              <a:rPr lang="de" sz="1300">
                <a:solidFill>
                  <a:schemeClr val="accent2"/>
                </a:solidFill>
                <a:highlight>
                  <a:srgbClr val="31394D"/>
                </a:highlight>
              </a:rPr>
              <a:t>McCabe’sche Zyklomatische Komplexität (Methoden)</a:t>
            </a:r>
            <a:endParaRPr sz="1300">
              <a:solidFill>
                <a:schemeClr val="accent2"/>
              </a:solidFill>
              <a:highlight>
                <a:srgbClr val="31394D"/>
              </a:highlight>
            </a:endParaRPr>
          </a:p>
          <a:p>
            <a:pPr indent="0" lvl="0" marL="914400" rtl="0" algn="l">
              <a:lnSpc>
                <a:spcPct val="120000"/>
              </a:lnSpc>
              <a:spcBef>
                <a:spcPts val="0"/>
              </a:spcBef>
              <a:spcAft>
                <a:spcPts val="0"/>
              </a:spcAft>
              <a:buNone/>
            </a:pPr>
            <a:r>
              <a:rPr lang="de" sz="1500">
                <a:solidFill>
                  <a:schemeClr val="accent2"/>
                </a:solidFill>
                <a:highlight>
                  <a:schemeClr val="dk1"/>
                </a:highlight>
              </a:rPr>
              <a:t>→ </a:t>
            </a:r>
            <a:r>
              <a:rPr lang="de" sz="1200">
                <a:solidFill>
                  <a:schemeClr val="accent2"/>
                </a:solidFill>
                <a:highlight>
                  <a:schemeClr val="dk1"/>
                </a:highlight>
              </a:rPr>
              <a:t>gut (&lt;20): 1 Methode 16, sonst &lt;10</a:t>
            </a:r>
            <a:endParaRPr sz="900">
              <a:solidFill>
                <a:schemeClr val="accent2"/>
              </a:solidFill>
              <a:highlight>
                <a:srgbClr val="31394D"/>
              </a:highlight>
            </a:endParaRPr>
          </a:p>
          <a:p>
            <a:pPr indent="0" lvl="0" marL="0" rtl="0" algn="l">
              <a:lnSpc>
                <a:spcPct val="120000"/>
              </a:lnSpc>
              <a:spcBef>
                <a:spcPts val="0"/>
              </a:spcBef>
              <a:spcAft>
                <a:spcPts val="0"/>
              </a:spcAft>
              <a:buNone/>
            </a:pPr>
            <a:r>
              <a:t/>
            </a:r>
            <a:endParaRPr sz="1500">
              <a:solidFill>
                <a:schemeClr val="accent2"/>
              </a:solidFill>
              <a:highlight>
                <a:srgbClr val="31394D"/>
              </a:high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5"/>
          <p:cNvSpPr txBox="1"/>
          <p:nvPr>
            <p:ph type="ctrTitle"/>
          </p:nvPr>
        </p:nvSpPr>
        <p:spPr>
          <a:xfrm>
            <a:off x="1803050" y="1391300"/>
            <a:ext cx="5268000" cy="1067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de"/>
              <a:t>CI/CD</a:t>
            </a:r>
            <a:br>
              <a:rPr lang="de"/>
            </a:br>
            <a:r>
              <a:rPr lang="de" sz="2711"/>
              <a:t>- Infrastruktur -</a:t>
            </a:r>
            <a:endParaRPr sz="1111"/>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6"/>
          <p:cNvSpPr txBox="1"/>
          <p:nvPr>
            <p:ph type="title"/>
          </p:nvPr>
        </p:nvSpPr>
        <p:spPr>
          <a:xfrm>
            <a:off x="311300" y="500925"/>
            <a:ext cx="3704400" cy="808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CI/CD-Pipeline</a:t>
            </a:r>
            <a:endParaRPr/>
          </a:p>
          <a:p>
            <a:pPr indent="0" lvl="0" marL="0" rtl="0" algn="l">
              <a:spcBef>
                <a:spcPts val="0"/>
              </a:spcBef>
              <a:spcAft>
                <a:spcPts val="0"/>
              </a:spcAft>
              <a:buNone/>
            </a:pPr>
            <a:r>
              <a:rPr lang="de"/>
              <a:t>	</a:t>
            </a:r>
            <a:r>
              <a:rPr lang="de" sz="2244">
                <a:latin typeface="Merriweather Light"/>
                <a:ea typeface="Merriweather Light"/>
                <a:cs typeface="Merriweather Light"/>
                <a:sym typeface="Merriweather Light"/>
              </a:rPr>
              <a:t>Frontend</a:t>
            </a:r>
            <a:endParaRPr sz="2244">
              <a:latin typeface="Merriweather Light"/>
              <a:ea typeface="Merriweather Light"/>
              <a:cs typeface="Merriweather Light"/>
              <a:sym typeface="Merriweather Light"/>
            </a:endParaRPr>
          </a:p>
        </p:txBody>
      </p:sp>
      <p:sp>
        <p:nvSpPr>
          <p:cNvPr id="221" name="Google Shape;221;p36"/>
          <p:cNvSpPr txBox="1"/>
          <p:nvPr>
            <p:ph idx="2" type="body"/>
          </p:nvPr>
        </p:nvSpPr>
        <p:spPr>
          <a:xfrm>
            <a:off x="8300" y="1342425"/>
            <a:ext cx="4310400" cy="4225500"/>
          </a:xfrm>
          <a:prstGeom prst="rect">
            <a:avLst/>
          </a:prstGeom>
        </p:spPr>
        <p:txBody>
          <a:bodyPr anchorCtr="0" anchor="t" bIns="91425" lIns="91425" spcFirstLastPara="1" rIns="91425" wrap="square" tIns="342000">
            <a:normAutofit/>
          </a:bodyPr>
          <a:lstStyle/>
          <a:p>
            <a:pPr indent="-323850" lvl="0" marL="4572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Auslöser: Push auf main &amp; Pull Requests</a:t>
            </a:r>
            <a:endParaRPr sz="1500">
              <a:solidFill>
                <a:schemeClr val="accent2"/>
              </a:solidFill>
              <a:highlight>
                <a:srgbClr val="31394D"/>
              </a:highlight>
            </a:endParaRPr>
          </a:p>
          <a:p>
            <a:pPr indent="-323850" lvl="0" marL="4572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Stages:</a:t>
            </a:r>
            <a:endParaRPr sz="1500">
              <a:solidFill>
                <a:schemeClr val="accent2"/>
              </a:solidFill>
              <a:highlight>
                <a:srgbClr val="31394D"/>
              </a:highlight>
            </a:endParaRPr>
          </a:p>
          <a:p>
            <a:pPr indent="-323850" lvl="1" marL="9144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Build (TypeScript, Deps., Artifact)</a:t>
            </a:r>
            <a:endParaRPr sz="1500">
              <a:solidFill>
                <a:schemeClr val="accent2"/>
              </a:solidFill>
              <a:highlight>
                <a:srgbClr val="31394D"/>
              </a:highlight>
            </a:endParaRPr>
          </a:p>
          <a:p>
            <a:pPr indent="-323850" lvl="1" marL="9144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Test (Type-Check, Tests*)</a:t>
            </a:r>
            <a:endParaRPr sz="1500">
              <a:solidFill>
                <a:schemeClr val="accent2"/>
              </a:solidFill>
              <a:highlight>
                <a:srgbClr val="31394D"/>
              </a:highlight>
            </a:endParaRPr>
          </a:p>
          <a:p>
            <a:pPr indent="-323850" lvl="1" marL="9144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Deploy (GitHub Pages)</a:t>
            </a:r>
            <a:endParaRPr sz="1500">
              <a:solidFill>
                <a:schemeClr val="accent2"/>
              </a:solidFill>
              <a:highlight>
                <a:srgbClr val="31394D"/>
              </a:highlight>
            </a:endParaRPr>
          </a:p>
          <a:p>
            <a:pPr indent="-323850" lvl="0" marL="4572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Besonderheit: Kein Client-Update nötig, da Client im Browser läuft</a:t>
            </a:r>
            <a:endParaRPr sz="1500">
              <a:solidFill>
                <a:schemeClr val="accent2"/>
              </a:solidFill>
              <a:highlight>
                <a:srgbClr val="31394D"/>
              </a:highlight>
            </a:endParaRPr>
          </a:p>
          <a:p>
            <a:pPr indent="0" lvl="0" marL="0" rtl="0" algn="l">
              <a:lnSpc>
                <a:spcPct val="120000"/>
              </a:lnSpc>
              <a:spcBef>
                <a:spcPts val="0"/>
              </a:spcBef>
              <a:spcAft>
                <a:spcPts val="0"/>
              </a:spcAft>
              <a:buNone/>
            </a:pPr>
            <a:r>
              <a:t/>
            </a:r>
            <a:endParaRPr sz="1500">
              <a:solidFill>
                <a:schemeClr val="accent2"/>
              </a:solidFill>
              <a:highlight>
                <a:srgbClr val="31394D"/>
              </a:highlight>
            </a:endParaRPr>
          </a:p>
          <a:p>
            <a:pPr indent="0" lvl="0" marL="0" rtl="0" algn="l">
              <a:lnSpc>
                <a:spcPct val="120000"/>
              </a:lnSpc>
              <a:spcBef>
                <a:spcPts val="0"/>
              </a:spcBef>
              <a:spcAft>
                <a:spcPts val="0"/>
              </a:spcAft>
              <a:buNone/>
            </a:pPr>
            <a:r>
              <a:t/>
            </a:r>
            <a:endParaRPr sz="1500">
              <a:solidFill>
                <a:schemeClr val="accent2"/>
              </a:solidFill>
              <a:highlight>
                <a:srgbClr val="31394D"/>
              </a:highlight>
            </a:endParaRPr>
          </a:p>
          <a:p>
            <a:pPr indent="457200" lvl="0" marL="0" rtl="0" algn="l">
              <a:lnSpc>
                <a:spcPct val="120000"/>
              </a:lnSpc>
              <a:spcBef>
                <a:spcPts val="0"/>
              </a:spcBef>
              <a:spcAft>
                <a:spcPts val="0"/>
              </a:spcAft>
              <a:buNone/>
            </a:pPr>
            <a:r>
              <a:rPr lang="de" sz="1200">
                <a:solidFill>
                  <a:schemeClr val="accent2"/>
                </a:solidFill>
                <a:highlight>
                  <a:srgbClr val="31394D"/>
                </a:highlight>
              </a:rPr>
              <a:t>* </a:t>
            </a:r>
            <a:r>
              <a:rPr lang="de" sz="1200">
                <a:solidFill>
                  <a:schemeClr val="accent2"/>
                </a:solidFill>
                <a:highlight>
                  <a:srgbClr val="31394D"/>
                </a:highlight>
              </a:rPr>
              <a:t>Tests aktuell nicht implementiert</a:t>
            </a:r>
            <a:endParaRPr sz="1200">
              <a:solidFill>
                <a:schemeClr val="accent2"/>
              </a:solidFill>
              <a:highlight>
                <a:srgbClr val="31394D"/>
              </a:highlight>
            </a:endParaRPr>
          </a:p>
          <a:p>
            <a:pPr indent="0" lvl="0" marL="0" rtl="0" algn="l">
              <a:lnSpc>
                <a:spcPct val="120000"/>
              </a:lnSpc>
              <a:spcBef>
                <a:spcPts val="0"/>
              </a:spcBef>
              <a:spcAft>
                <a:spcPts val="0"/>
              </a:spcAft>
              <a:buNone/>
            </a:pPr>
            <a:r>
              <a:t/>
            </a:r>
            <a:endParaRPr sz="1500">
              <a:solidFill>
                <a:schemeClr val="accent2"/>
              </a:solidFill>
              <a:highlight>
                <a:srgbClr val="31394D"/>
              </a:highlight>
            </a:endParaRPr>
          </a:p>
        </p:txBody>
      </p:sp>
      <p:sp>
        <p:nvSpPr>
          <p:cNvPr id="222" name="Google Shape;222;p36"/>
          <p:cNvSpPr txBox="1"/>
          <p:nvPr/>
        </p:nvSpPr>
        <p:spPr>
          <a:xfrm>
            <a:off x="4572000" y="4774200"/>
            <a:ext cx="4572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1200">
                <a:solidFill>
                  <a:schemeClr val="dk2"/>
                </a:solidFill>
                <a:latin typeface="Roboto"/>
                <a:ea typeface="Roboto"/>
                <a:cs typeface="Roboto"/>
                <a:sym typeface="Roboto"/>
              </a:rPr>
              <a:t>Quelle: https://pages.github.com/</a:t>
            </a:r>
            <a:endParaRPr sz="1200">
              <a:solidFill>
                <a:schemeClr val="dk2"/>
              </a:solidFill>
              <a:latin typeface="Roboto"/>
              <a:ea typeface="Roboto"/>
              <a:cs typeface="Roboto"/>
              <a:sym typeface="Roboto"/>
            </a:endParaRPr>
          </a:p>
        </p:txBody>
      </p:sp>
      <p:pic>
        <p:nvPicPr>
          <p:cNvPr id="223" name="Google Shape;223;p36" title="githubPagesLogo2-1844725582.png"/>
          <p:cNvPicPr preferRelativeResize="0"/>
          <p:nvPr/>
        </p:nvPicPr>
        <p:blipFill>
          <a:blip r:embed="rId3">
            <a:alphaModFix/>
          </a:blip>
          <a:stretch>
            <a:fillRect/>
          </a:stretch>
        </p:blipFill>
        <p:spPr>
          <a:xfrm>
            <a:off x="5026750" y="2039972"/>
            <a:ext cx="3988275" cy="10635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7"/>
          <p:cNvSpPr txBox="1"/>
          <p:nvPr>
            <p:ph type="title"/>
          </p:nvPr>
        </p:nvSpPr>
        <p:spPr>
          <a:xfrm>
            <a:off x="311300" y="500925"/>
            <a:ext cx="3704400" cy="808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de"/>
              <a:t>CI/CD-Pipeline</a:t>
            </a:r>
            <a:endParaRPr/>
          </a:p>
          <a:p>
            <a:pPr indent="0" lvl="0" marL="0" rtl="0" algn="l">
              <a:spcBef>
                <a:spcPts val="0"/>
              </a:spcBef>
              <a:spcAft>
                <a:spcPts val="0"/>
              </a:spcAft>
              <a:buNone/>
            </a:pPr>
            <a:r>
              <a:rPr lang="de"/>
              <a:t>	</a:t>
            </a:r>
            <a:r>
              <a:rPr lang="de" sz="2244">
                <a:latin typeface="Merriweather Light"/>
                <a:ea typeface="Merriweather Light"/>
                <a:cs typeface="Merriweather Light"/>
                <a:sym typeface="Merriweather Light"/>
              </a:rPr>
              <a:t>Backend</a:t>
            </a:r>
            <a:endParaRPr sz="2244">
              <a:latin typeface="Merriweather Light"/>
              <a:ea typeface="Merriweather Light"/>
              <a:cs typeface="Merriweather Light"/>
              <a:sym typeface="Merriweather Light"/>
            </a:endParaRPr>
          </a:p>
        </p:txBody>
      </p:sp>
      <p:sp>
        <p:nvSpPr>
          <p:cNvPr id="229" name="Google Shape;229;p37"/>
          <p:cNvSpPr txBox="1"/>
          <p:nvPr>
            <p:ph idx="2" type="body"/>
          </p:nvPr>
        </p:nvSpPr>
        <p:spPr>
          <a:xfrm>
            <a:off x="8300" y="1342425"/>
            <a:ext cx="4310400" cy="4225500"/>
          </a:xfrm>
          <a:prstGeom prst="rect">
            <a:avLst/>
          </a:prstGeom>
        </p:spPr>
        <p:txBody>
          <a:bodyPr anchorCtr="0" anchor="t" bIns="91425" lIns="91425" spcFirstLastPara="1" rIns="91425" wrap="square" tIns="342000">
            <a:normAutofit/>
          </a:bodyPr>
          <a:lstStyle/>
          <a:p>
            <a:pPr indent="-323850" lvl="0" marL="4572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Auslöser: Push auf main &amp; Pull Requests</a:t>
            </a:r>
            <a:endParaRPr sz="1500">
              <a:solidFill>
                <a:schemeClr val="accent2"/>
              </a:solidFill>
              <a:highlight>
                <a:srgbClr val="31394D"/>
              </a:highlight>
            </a:endParaRPr>
          </a:p>
          <a:p>
            <a:pPr indent="-323850" lvl="0" marL="4572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Stages:</a:t>
            </a:r>
            <a:endParaRPr sz="1500">
              <a:solidFill>
                <a:schemeClr val="accent2"/>
              </a:solidFill>
              <a:highlight>
                <a:srgbClr val="31394D"/>
              </a:highlight>
            </a:endParaRPr>
          </a:p>
          <a:p>
            <a:pPr indent="-323850" lvl="1" marL="9144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Build (Gradle, Permissions, Artifact)</a:t>
            </a:r>
            <a:endParaRPr sz="1500">
              <a:solidFill>
                <a:schemeClr val="accent2"/>
              </a:solidFill>
              <a:highlight>
                <a:srgbClr val="31394D"/>
              </a:highlight>
            </a:endParaRPr>
          </a:p>
          <a:p>
            <a:pPr indent="-323850" lvl="1" marL="9144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Test (JUnit, Mockito, Jacoco, SonarQube)</a:t>
            </a:r>
            <a:br>
              <a:rPr lang="de" sz="1500">
                <a:solidFill>
                  <a:schemeClr val="accent2"/>
                </a:solidFill>
                <a:highlight>
                  <a:srgbClr val="31394D"/>
                </a:highlight>
              </a:rPr>
            </a:br>
            <a:endParaRPr sz="1500">
              <a:solidFill>
                <a:schemeClr val="accent2"/>
              </a:solidFill>
              <a:highlight>
                <a:srgbClr val="31394D"/>
              </a:highlight>
            </a:endParaRPr>
          </a:p>
          <a:p>
            <a:pPr indent="-323850" lvl="0" marL="4572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Automatisches Deployment auf Render</a:t>
            </a:r>
            <a:endParaRPr sz="1500">
              <a:solidFill>
                <a:schemeClr val="accent2"/>
              </a:solidFill>
              <a:highlight>
                <a:srgbClr val="31394D"/>
              </a:highlight>
            </a:endParaRPr>
          </a:p>
          <a:p>
            <a:pPr indent="-323850" lvl="1" marL="914400" rtl="0" algn="l">
              <a:lnSpc>
                <a:spcPct val="120000"/>
              </a:lnSpc>
              <a:spcBef>
                <a:spcPts val="0"/>
              </a:spcBef>
              <a:spcAft>
                <a:spcPts val="0"/>
              </a:spcAft>
              <a:buClr>
                <a:schemeClr val="accent2"/>
              </a:buClr>
              <a:buSzPts val="1500"/>
              <a:buChar char="○"/>
            </a:pPr>
            <a:r>
              <a:rPr lang="de" sz="1500">
                <a:solidFill>
                  <a:schemeClr val="accent2"/>
                </a:solidFill>
                <a:highlight>
                  <a:srgbClr val="31394D"/>
                </a:highlight>
              </a:rPr>
              <a:t>Täglicher Cron-Job zum Update des Docker-Container</a:t>
            </a:r>
            <a:endParaRPr sz="1500">
              <a:solidFill>
                <a:schemeClr val="accent2"/>
              </a:solidFill>
              <a:highlight>
                <a:srgbClr val="31394D"/>
              </a:highlight>
            </a:endParaRPr>
          </a:p>
          <a:p>
            <a:pPr indent="0" lvl="0" marL="0" rtl="0" algn="l">
              <a:lnSpc>
                <a:spcPct val="120000"/>
              </a:lnSpc>
              <a:spcBef>
                <a:spcPts val="0"/>
              </a:spcBef>
              <a:spcAft>
                <a:spcPts val="0"/>
              </a:spcAft>
              <a:buNone/>
            </a:pPr>
            <a:r>
              <a:t/>
            </a:r>
            <a:endParaRPr sz="1500">
              <a:solidFill>
                <a:schemeClr val="accent2"/>
              </a:solidFill>
              <a:highlight>
                <a:srgbClr val="31394D"/>
              </a:highlight>
            </a:endParaRPr>
          </a:p>
        </p:txBody>
      </p:sp>
      <p:sp>
        <p:nvSpPr>
          <p:cNvPr id="230" name="Google Shape;230;p37"/>
          <p:cNvSpPr txBox="1"/>
          <p:nvPr/>
        </p:nvSpPr>
        <p:spPr>
          <a:xfrm>
            <a:off x="4572000" y="4589400"/>
            <a:ext cx="4572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1200">
                <a:solidFill>
                  <a:schemeClr val="dk2"/>
                </a:solidFill>
                <a:latin typeface="Roboto"/>
                <a:ea typeface="Roboto"/>
                <a:cs typeface="Roboto"/>
                <a:sym typeface="Roboto"/>
              </a:rPr>
              <a:t>Quelle: </a:t>
            </a:r>
            <a:r>
              <a:rPr lang="de" sz="1200" u="sng">
                <a:solidFill>
                  <a:schemeClr val="hlink"/>
                </a:solidFill>
                <a:latin typeface="Roboto"/>
                <a:ea typeface="Roboto"/>
                <a:cs typeface="Roboto"/>
                <a:sym typeface="Roboto"/>
                <a:hlinkClick r:id="rId3"/>
              </a:rPr>
              <a:t>https://cdn.sanity.io/files/hvk0tap5/production/</a:t>
            </a:r>
            <a:br>
              <a:rPr lang="de" sz="1200">
                <a:solidFill>
                  <a:schemeClr val="dk2"/>
                </a:solidFill>
                <a:latin typeface="Roboto"/>
                <a:ea typeface="Roboto"/>
                <a:cs typeface="Roboto"/>
                <a:sym typeface="Roboto"/>
              </a:rPr>
            </a:br>
            <a:r>
              <a:rPr lang="de" sz="1200">
                <a:solidFill>
                  <a:schemeClr val="dk2"/>
                </a:solidFill>
                <a:latin typeface="Roboto"/>
                <a:ea typeface="Roboto"/>
                <a:cs typeface="Roboto"/>
                <a:sym typeface="Roboto"/>
              </a:rPr>
              <a:t>40134cba8baae95e988e65d2a0675c2521e9c731.zip</a:t>
            </a:r>
            <a:endParaRPr sz="1200">
              <a:solidFill>
                <a:schemeClr val="dk2"/>
              </a:solidFill>
              <a:latin typeface="Roboto"/>
              <a:ea typeface="Roboto"/>
              <a:cs typeface="Roboto"/>
              <a:sym typeface="Roboto"/>
            </a:endParaRPr>
          </a:p>
        </p:txBody>
      </p:sp>
      <p:pic>
        <p:nvPicPr>
          <p:cNvPr id="231" name="Google Shape;231;p37" title="render-logo-png_seeklogo-532232-1352556739.png"/>
          <p:cNvPicPr preferRelativeResize="0"/>
          <p:nvPr/>
        </p:nvPicPr>
        <p:blipFill>
          <a:blip r:embed="rId4">
            <a:alphaModFix/>
          </a:blip>
          <a:stretch>
            <a:fillRect/>
          </a:stretch>
        </p:blipFill>
        <p:spPr>
          <a:xfrm>
            <a:off x="5094450" y="1762650"/>
            <a:ext cx="3651825" cy="18259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8"/>
          <p:cNvSpPr txBox="1"/>
          <p:nvPr>
            <p:ph type="ctrTitle"/>
          </p:nvPr>
        </p:nvSpPr>
        <p:spPr>
          <a:xfrm>
            <a:off x="1803050" y="1391300"/>
            <a:ext cx="5268000" cy="1067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de"/>
              <a:t>Projektmanagement</a:t>
            </a:r>
            <a:br>
              <a:rPr lang="de"/>
            </a:br>
            <a:r>
              <a:rPr lang="de" sz="2711"/>
              <a:t>- Statistiken -</a:t>
            </a:r>
            <a:endParaRPr sz="2711"/>
          </a:p>
          <a:p>
            <a:pPr indent="0" lvl="0" marL="0" rtl="0" algn="ctr">
              <a:spcBef>
                <a:spcPts val="0"/>
              </a:spcBef>
              <a:spcAft>
                <a:spcPts val="0"/>
              </a:spcAft>
              <a:buNone/>
            </a:pPr>
            <a:r>
              <a:t/>
            </a:r>
            <a:endParaRPr sz="2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40" name="Shape 240"/>
        <p:cNvGrpSpPr/>
        <p:nvPr/>
      </p:nvGrpSpPr>
      <p:grpSpPr>
        <a:xfrm>
          <a:off x="0" y="0"/>
          <a:ext cx="0" cy="0"/>
          <a:chOff x="0" y="0"/>
          <a:chExt cx="0" cy="0"/>
        </a:xfrm>
      </p:grpSpPr>
      <p:sp>
        <p:nvSpPr>
          <p:cNvPr id="241" name="Google Shape;241;p3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Arbeitszeit</a:t>
            </a:r>
            <a:endParaRPr/>
          </a:p>
        </p:txBody>
      </p:sp>
      <p:graphicFrame>
        <p:nvGraphicFramePr>
          <p:cNvPr id="242" name="Google Shape;242;p39"/>
          <p:cNvGraphicFramePr/>
          <p:nvPr/>
        </p:nvGraphicFramePr>
        <p:xfrm>
          <a:off x="1706400" y="1898638"/>
          <a:ext cx="3000000" cy="3000000"/>
        </p:xfrm>
        <a:graphic>
          <a:graphicData uri="http://schemas.openxmlformats.org/drawingml/2006/table">
            <a:tbl>
              <a:tblPr>
                <a:noFill/>
                <a:tableStyleId>{87CC9A44-26F5-41E7-8740-DC66E2CEFB26}</a:tableStyleId>
              </a:tblPr>
              <a:tblGrid>
                <a:gridCol w="1910400"/>
                <a:gridCol w="1910400"/>
                <a:gridCol w="1910400"/>
              </a:tblGrid>
              <a:tr h="12700">
                <a:tc>
                  <a:txBody>
                    <a:bodyPr/>
                    <a:lstStyle/>
                    <a:p>
                      <a:pPr indent="0" lvl="0" marL="0" rtl="0" algn="l">
                        <a:spcBef>
                          <a:spcPts val="0"/>
                        </a:spcBef>
                        <a:spcAft>
                          <a:spcPts val="0"/>
                        </a:spcAft>
                        <a:buNone/>
                      </a:pPr>
                      <a:r>
                        <a:rPr b="1" lang="de">
                          <a:solidFill>
                            <a:schemeClr val="accent2"/>
                          </a:solidFill>
                          <a:latin typeface="Roboto"/>
                          <a:ea typeface="Roboto"/>
                          <a:cs typeface="Roboto"/>
                          <a:sym typeface="Roboto"/>
                        </a:rPr>
                        <a:t>Person</a:t>
                      </a:r>
                      <a:endParaRPr b="1">
                        <a:solidFill>
                          <a:schemeClr val="accent2"/>
                        </a:solidFill>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31394D"/>
                    </a:solidFill>
                  </a:tcPr>
                </a:tc>
                <a:tc>
                  <a:txBody>
                    <a:bodyPr/>
                    <a:lstStyle/>
                    <a:p>
                      <a:pPr indent="0" lvl="0" marL="0" rtl="0" algn="l">
                        <a:spcBef>
                          <a:spcPts val="0"/>
                        </a:spcBef>
                        <a:spcAft>
                          <a:spcPts val="0"/>
                        </a:spcAft>
                        <a:buNone/>
                      </a:pPr>
                      <a:r>
                        <a:rPr b="1" lang="de">
                          <a:solidFill>
                            <a:schemeClr val="accent2"/>
                          </a:solidFill>
                          <a:latin typeface="Roboto"/>
                          <a:ea typeface="Roboto"/>
                          <a:cs typeface="Roboto"/>
                          <a:sym typeface="Roboto"/>
                        </a:rPr>
                        <a:t>Erfasste Zeit</a:t>
                      </a:r>
                      <a:endParaRPr b="1">
                        <a:solidFill>
                          <a:schemeClr val="accent2"/>
                        </a:solidFill>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31394D"/>
                    </a:solidFill>
                  </a:tcPr>
                </a:tc>
                <a:tc>
                  <a:txBody>
                    <a:bodyPr/>
                    <a:lstStyle/>
                    <a:p>
                      <a:pPr indent="0" lvl="0" marL="0" rtl="0" algn="l">
                        <a:spcBef>
                          <a:spcPts val="0"/>
                        </a:spcBef>
                        <a:spcAft>
                          <a:spcPts val="0"/>
                        </a:spcAft>
                        <a:buNone/>
                      </a:pPr>
                      <a:r>
                        <a:rPr b="1" lang="de">
                          <a:solidFill>
                            <a:schemeClr val="accent2"/>
                          </a:solidFill>
                          <a:latin typeface="Roboto"/>
                          <a:ea typeface="Roboto"/>
                          <a:cs typeface="Roboto"/>
                          <a:sym typeface="Roboto"/>
                        </a:rPr>
                        <a:t>Hauptbeitrag</a:t>
                      </a:r>
                      <a:endParaRPr b="1">
                        <a:solidFill>
                          <a:schemeClr val="accent2"/>
                        </a:solidFill>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31394D"/>
                    </a:solidFill>
                  </a:tcPr>
                </a:tc>
              </a:tr>
              <a:tr h="12700">
                <a:tc>
                  <a:txBody>
                    <a:bodyPr/>
                    <a:lstStyle/>
                    <a:p>
                      <a:pPr indent="0" lvl="0" marL="0" rtl="0" algn="l">
                        <a:spcBef>
                          <a:spcPts val="0"/>
                        </a:spcBef>
                        <a:spcAft>
                          <a:spcPts val="0"/>
                        </a:spcAft>
                        <a:buNone/>
                      </a:pPr>
                      <a:r>
                        <a:rPr lang="de">
                          <a:latin typeface="Roboto"/>
                          <a:ea typeface="Roboto"/>
                          <a:cs typeface="Roboto"/>
                          <a:sym typeface="Roboto"/>
                        </a:rPr>
                        <a:t>Alexander Horst</a:t>
                      </a:r>
                      <a:endParaRPr>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de">
                          <a:latin typeface="Roboto"/>
                          <a:ea typeface="Roboto"/>
                          <a:cs typeface="Roboto"/>
                          <a:sym typeface="Roboto"/>
                        </a:rPr>
                        <a:t>2d 16h 36m</a:t>
                      </a:r>
                      <a:endParaRPr>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de">
                          <a:latin typeface="Roboto"/>
                          <a:ea typeface="Roboto"/>
                          <a:cs typeface="Roboto"/>
                          <a:sym typeface="Roboto"/>
                        </a:rPr>
                        <a:t>Match Seite</a:t>
                      </a:r>
                      <a:endParaRPr>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r>
              <a:tr h="12700">
                <a:tc>
                  <a:txBody>
                    <a:bodyPr/>
                    <a:lstStyle/>
                    <a:p>
                      <a:pPr indent="0" lvl="0" marL="0" rtl="0" algn="l">
                        <a:spcBef>
                          <a:spcPts val="0"/>
                        </a:spcBef>
                        <a:spcAft>
                          <a:spcPts val="0"/>
                        </a:spcAft>
                        <a:buNone/>
                      </a:pPr>
                      <a:r>
                        <a:rPr lang="de">
                          <a:latin typeface="Roboto"/>
                          <a:ea typeface="Roboto"/>
                          <a:cs typeface="Roboto"/>
                          <a:sym typeface="Roboto"/>
                        </a:rPr>
                        <a:t>Marcel Steinle</a:t>
                      </a:r>
                      <a:endParaRPr>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de">
                          <a:latin typeface="Roboto"/>
                          <a:ea typeface="Roboto"/>
                          <a:cs typeface="Roboto"/>
                          <a:sym typeface="Roboto"/>
                        </a:rPr>
                        <a:t>2d 12h 30m</a:t>
                      </a:r>
                      <a:endParaRPr>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de">
                          <a:latin typeface="Roboto"/>
                          <a:ea typeface="Roboto"/>
                          <a:cs typeface="Roboto"/>
                          <a:sym typeface="Roboto"/>
                        </a:rPr>
                        <a:t>Design &amp; Dokumente</a:t>
                      </a:r>
                      <a:endParaRPr>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r>
              <a:tr h="12700">
                <a:tc>
                  <a:txBody>
                    <a:bodyPr/>
                    <a:lstStyle/>
                    <a:p>
                      <a:pPr indent="0" lvl="0" marL="0" rtl="0" algn="l">
                        <a:spcBef>
                          <a:spcPts val="0"/>
                        </a:spcBef>
                        <a:spcAft>
                          <a:spcPts val="0"/>
                        </a:spcAft>
                        <a:buNone/>
                      </a:pPr>
                      <a:r>
                        <a:rPr lang="de">
                          <a:latin typeface="Roboto"/>
                          <a:ea typeface="Roboto"/>
                          <a:cs typeface="Roboto"/>
                          <a:sym typeface="Roboto"/>
                        </a:rPr>
                        <a:t>Jona Lauber</a:t>
                      </a:r>
                      <a:endParaRPr>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de">
                          <a:latin typeface="Roboto"/>
                          <a:ea typeface="Roboto"/>
                          <a:cs typeface="Roboto"/>
                          <a:sym typeface="Roboto"/>
                        </a:rPr>
                        <a:t>2d 18h 5m</a:t>
                      </a:r>
                      <a:endParaRPr>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de">
                          <a:latin typeface="Roboto"/>
                          <a:ea typeface="Roboto"/>
                          <a:cs typeface="Roboto"/>
                          <a:sym typeface="Roboto"/>
                        </a:rPr>
                        <a:t>Auth, Dialogs, Trading</a:t>
                      </a:r>
                      <a:endParaRPr>
                        <a:latin typeface="Roboto"/>
                        <a:ea typeface="Roboto"/>
                        <a:cs typeface="Roboto"/>
                        <a:sym typeface="Roboto"/>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r>
            </a:tbl>
          </a:graphicData>
        </a:graphic>
      </p:graphicFrame>
      <p:sp>
        <p:nvSpPr>
          <p:cNvPr id="243" name="Google Shape;243;p39"/>
          <p:cNvSpPr txBox="1"/>
          <p:nvPr/>
        </p:nvSpPr>
        <p:spPr>
          <a:xfrm>
            <a:off x="1706425" y="3430375"/>
            <a:ext cx="5731200" cy="104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de" sz="1300">
                <a:solidFill>
                  <a:schemeClr val="accent2"/>
                </a:solidFill>
                <a:latin typeface="Roboto"/>
                <a:ea typeface="Roboto"/>
                <a:cs typeface="Roboto"/>
                <a:sym typeface="Roboto"/>
              </a:rPr>
              <a:t>7d 23h 11m ⇔ 191h ⇔ 4,7 Arbeitswochen</a:t>
            </a:r>
            <a:endParaRPr sz="1300">
              <a:solidFill>
                <a:schemeClr val="accent2"/>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47" name="Shape 247"/>
        <p:cNvGrpSpPr/>
        <p:nvPr/>
      </p:nvGrpSpPr>
      <p:grpSpPr>
        <a:xfrm>
          <a:off x="0" y="0"/>
          <a:ext cx="0" cy="0"/>
          <a:chOff x="0" y="0"/>
          <a:chExt cx="0" cy="0"/>
        </a:xfrm>
      </p:grpSpPr>
      <p:sp>
        <p:nvSpPr>
          <p:cNvPr id="248" name="Google Shape;248;p40"/>
          <p:cNvSpPr txBox="1"/>
          <p:nvPr>
            <p:ph type="title"/>
          </p:nvPr>
        </p:nvSpPr>
        <p:spPr>
          <a:xfrm>
            <a:off x="311300" y="500925"/>
            <a:ext cx="5823300" cy="2049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Stunden pro Workflow</a:t>
            </a:r>
            <a:endParaRPr/>
          </a:p>
        </p:txBody>
      </p:sp>
      <p:graphicFrame>
        <p:nvGraphicFramePr>
          <p:cNvPr id="249" name="Google Shape;249;p40"/>
          <p:cNvGraphicFramePr/>
          <p:nvPr/>
        </p:nvGraphicFramePr>
        <p:xfrm>
          <a:off x="802350" y="1312875"/>
          <a:ext cx="3000000" cy="3000000"/>
        </p:xfrm>
        <a:graphic>
          <a:graphicData uri="http://schemas.openxmlformats.org/drawingml/2006/table">
            <a:tbl>
              <a:tblPr>
                <a:noFill/>
                <a:tableStyleId>{87CC9A44-26F5-41E7-8740-DC66E2CEFB26}</a:tableStyleId>
              </a:tblPr>
              <a:tblGrid>
                <a:gridCol w="2831375"/>
                <a:gridCol w="1168725"/>
              </a:tblGrid>
              <a:tr h="391300">
                <a:tc>
                  <a:txBody>
                    <a:bodyPr/>
                    <a:lstStyle/>
                    <a:p>
                      <a:pPr indent="0" lvl="0" marL="0" rtl="0" algn="l">
                        <a:lnSpc>
                          <a:spcPct val="115000"/>
                        </a:lnSpc>
                        <a:spcBef>
                          <a:spcPts val="0"/>
                        </a:spcBef>
                        <a:spcAft>
                          <a:spcPts val="0"/>
                        </a:spcAft>
                        <a:buNone/>
                      </a:pPr>
                      <a:r>
                        <a:rPr b="1" lang="de">
                          <a:solidFill>
                            <a:schemeClr val="accent2"/>
                          </a:solidFill>
                          <a:latin typeface="Roboto"/>
                          <a:ea typeface="Roboto"/>
                          <a:cs typeface="Roboto"/>
                          <a:sym typeface="Roboto"/>
                        </a:rPr>
                        <a:t>Workflow</a:t>
                      </a:r>
                      <a:endParaRPr b="1">
                        <a:solidFill>
                          <a:schemeClr val="accent2"/>
                        </a:solidFill>
                        <a:latin typeface="Roboto"/>
                        <a:ea typeface="Roboto"/>
                        <a:cs typeface="Roboto"/>
                        <a:sym typeface="Roboto"/>
                      </a:endParaRPr>
                    </a:p>
                  </a:txBody>
                  <a:tcPr marT="63500" marB="63500" marR="63500" marL="63500">
                    <a:solidFill>
                      <a:schemeClr val="dk1"/>
                    </a:solidFill>
                  </a:tcPr>
                </a:tc>
                <a:tc>
                  <a:txBody>
                    <a:bodyPr/>
                    <a:lstStyle/>
                    <a:p>
                      <a:pPr indent="0" lvl="0" marL="0" rtl="0" algn="l">
                        <a:lnSpc>
                          <a:spcPct val="115000"/>
                        </a:lnSpc>
                        <a:spcBef>
                          <a:spcPts val="0"/>
                        </a:spcBef>
                        <a:spcAft>
                          <a:spcPts val="0"/>
                        </a:spcAft>
                        <a:buNone/>
                      </a:pPr>
                      <a:r>
                        <a:rPr b="1" lang="de">
                          <a:solidFill>
                            <a:schemeClr val="accent2"/>
                          </a:solidFill>
                          <a:latin typeface="Roboto"/>
                          <a:ea typeface="Roboto"/>
                          <a:cs typeface="Roboto"/>
                          <a:sym typeface="Roboto"/>
                        </a:rPr>
                        <a:t>Erfasste Zeit</a:t>
                      </a:r>
                      <a:endParaRPr b="1">
                        <a:solidFill>
                          <a:schemeClr val="accent2"/>
                        </a:solidFill>
                        <a:latin typeface="Roboto"/>
                        <a:ea typeface="Roboto"/>
                        <a:cs typeface="Roboto"/>
                        <a:sym typeface="Roboto"/>
                      </a:endParaRPr>
                    </a:p>
                  </a:txBody>
                  <a:tcPr marT="63500" marB="63500" marR="63500" marL="63500">
                    <a:solidFill>
                      <a:schemeClr val="dk1"/>
                    </a:solidFill>
                  </a:tcPr>
                </a:tc>
              </a:tr>
              <a:tr h="12700">
                <a:tc>
                  <a:txBody>
                    <a:bodyPr/>
                    <a:lstStyle/>
                    <a:p>
                      <a:pPr indent="0" lvl="0" marL="0" rtl="0" algn="l">
                        <a:lnSpc>
                          <a:spcPct val="115000"/>
                        </a:lnSpc>
                        <a:spcBef>
                          <a:spcPts val="0"/>
                        </a:spcBef>
                        <a:spcAft>
                          <a:spcPts val="0"/>
                        </a:spcAft>
                        <a:buNone/>
                      </a:pPr>
                      <a:r>
                        <a:rPr lang="de">
                          <a:latin typeface="Roboto"/>
                          <a:ea typeface="Roboto"/>
                          <a:cs typeface="Roboto"/>
                          <a:sym typeface="Roboto"/>
                        </a:rPr>
                        <a:t>Requirements</a:t>
                      </a:r>
                      <a:endParaRPr>
                        <a:latin typeface="Roboto"/>
                        <a:ea typeface="Roboto"/>
                        <a:cs typeface="Roboto"/>
                        <a:sym typeface="Roboto"/>
                      </a:endParaRPr>
                    </a:p>
                  </a:txBody>
                  <a:tcPr marT="63500" marB="63500" marR="63500" marL="63500">
                    <a:solidFill>
                      <a:schemeClr val="lt1"/>
                    </a:solidFill>
                  </a:tcPr>
                </a:tc>
                <a:tc>
                  <a:txBody>
                    <a:bodyPr/>
                    <a:lstStyle/>
                    <a:p>
                      <a:pPr indent="0" lvl="0" marL="0" rtl="0" algn="l">
                        <a:lnSpc>
                          <a:spcPct val="115000"/>
                        </a:lnSpc>
                        <a:spcBef>
                          <a:spcPts val="0"/>
                        </a:spcBef>
                        <a:spcAft>
                          <a:spcPts val="0"/>
                        </a:spcAft>
                        <a:buNone/>
                      </a:pPr>
                      <a:r>
                        <a:rPr lang="de">
                          <a:latin typeface="Roboto"/>
                          <a:ea typeface="Roboto"/>
                          <a:cs typeface="Roboto"/>
                          <a:sym typeface="Roboto"/>
                        </a:rPr>
                        <a:t>1d</a:t>
                      </a:r>
                      <a:endParaRPr>
                        <a:latin typeface="Roboto"/>
                        <a:ea typeface="Roboto"/>
                        <a:cs typeface="Roboto"/>
                        <a:sym typeface="Roboto"/>
                      </a:endParaRPr>
                    </a:p>
                  </a:txBody>
                  <a:tcPr marT="63500" marB="63500" marR="63500" marL="63500">
                    <a:solidFill>
                      <a:schemeClr val="lt1"/>
                    </a:solidFill>
                  </a:tcPr>
                </a:tc>
              </a:tr>
              <a:tr h="12700">
                <a:tc>
                  <a:txBody>
                    <a:bodyPr/>
                    <a:lstStyle/>
                    <a:p>
                      <a:pPr indent="0" lvl="0" marL="0" rtl="0" algn="l">
                        <a:lnSpc>
                          <a:spcPct val="115000"/>
                        </a:lnSpc>
                        <a:spcBef>
                          <a:spcPts val="0"/>
                        </a:spcBef>
                        <a:spcAft>
                          <a:spcPts val="0"/>
                        </a:spcAft>
                        <a:buNone/>
                      </a:pPr>
                      <a:r>
                        <a:rPr lang="de">
                          <a:latin typeface="Roboto"/>
                          <a:ea typeface="Roboto"/>
                          <a:cs typeface="Roboto"/>
                          <a:sym typeface="Roboto"/>
                        </a:rPr>
                        <a:t>Analysis &amp; Design</a:t>
                      </a:r>
                      <a:endParaRPr>
                        <a:latin typeface="Roboto"/>
                        <a:ea typeface="Roboto"/>
                        <a:cs typeface="Roboto"/>
                        <a:sym typeface="Roboto"/>
                      </a:endParaRPr>
                    </a:p>
                  </a:txBody>
                  <a:tcPr marT="63500" marB="63500" marR="63500" marL="63500">
                    <a:solidFill>
                      <a:schemeClr val="lt1"/>
                    </a:solidFill>
                  </a:tcPr>
                </a:tc>
                <a:tc>
                  <a:txBody>
                    <a:bodyPr/>
                    <a:lstStyle/>
                    <a:p>
                      <a:pPr indent="0" lvl="0" marL="0" rtl="0" algn="l">
                        <a:lnSpc>
                          <a:spcPct val="115000"/>
                        </a:lnSpc>
                        <a:spcBef>
                          <a:spcPts val="0"/>
                        </a:spcBef>
                        <a:spcAft>
                          <a:spcPts val="0"/>
                        </a:spcAft>
                        <a:buNone/>
                      </a:pPr>
                      <a:r>
                        <a:rPr lang="de">
                          <a:latin typeface="Roboto"/>
                          <a:ea typeface="Roboto"/>
                          <a:cs typeface="Roboto"/>
                          <a:sym typeface="Roboto"/>
                        </a:rPr>
                        <a:t>15h 30m</a:t>
                      </a:r>
                      <a:endParaRPr>
                        <a:latin typeface="Roboto"/>
                        <a:ea typeface="Roboto"/>
                        <a:cs typeface="Roboto"/>
                        <a:sym typeface="Roboto"/>
                      </a:endParaRPr>
                    </a:p>
                  </a:txBody>
                  <a:tcPr marT="63500" marB="63500" marR="63500" marL="63500">
                    <a:solidFill>
                      <a:schemeClr val="lt1"/>
                    </a:solidFill>
                  </a:tcPr>
                </a:tc>
              </a:tr>
              <a:tr h="12700">
                <a:tc>
                  <a:txBody>
                    <a:bodyPr/>
                    <a:lstStyle/>
                    <a:p>
                      <a:pPr indent="0" lvl="0" marL="0" rtl="0" algn="l">
                        <a:lnSpc>
                          <a:spcPct val="115000"/>
                        </a:lnSpc>
                        <a:spcBef>
                          <a:spcPts val="0"/>
                        </a:spcBef>
                        <a:spcAft>
                          <a:spcPts val="0"/>
                        </a:spcAft>
                        <a:buNone/>
                      </a:pPr>
                      <a:r>
                        <a:rPr lang="de">
                          <a:latin typeface="Roboto"/>
                          <a:ea typeface="Roboto"/>
                          <a:cs typeface="Roboto"/>
                          <a:sym typeface="Roboto"/>
                        </a:rPr>
                        <a:t>Implementation</a:t>
                      </a:r>
                      <a:endParaRPr>
                        <a:latin typeface="Roboto"/>
                        <a:ea typeface="Roboto"/>
                        <a:cs typeface="Roboto"/>
                        <a:sym typeface="Roboto"/>
                      </a:endParaRPr>
                    </a:p>
                  </a:txBody>
                  <a:tcPr marT="63500" marB="63500" marR="63500" marL="63500">
                    <a:solidFill>
                      <a:schemeClr val="lt1"/>
                    </a:solidFill>
                  </a:tcPr>
                </a:tc>
                <a:tc>
                  <a:txBody>
                    <a:bodyPr/>
                    <a:lstStyle/>
                    <a:p>
                      <a:pPr indent="0" lvl="0" marL="0" rtl="0" algn="l">
                        <a:lnSpc>
                          <a:spcPct val="115000"/>
                        </a:lnSpc>
                        <a:spcBef>
                          <a:spcPts val="0"/>
                        </a:spcBef>
                        <a:spcAft>
                          <a:spcPts val="0"/>
                        </a:spcAft>
                        <a:buNone/>
                      </a:pPr>
                      <a:r>
                        <a:rPr lang="de">
                          <a:latin typeface="Roboto"/>
                          <a:ea typeface="Roboto"/>
                          <a:cs typeface="Roboto"/>
                          <a:sym typeface="Roboto"/>
                        </a:rPr>
                        <a:t>6d 11h 10m</a:t>
                      </a:r>
                      <a:endParaRPr>
                        <a:latin typeface="Roboto"/>
                        <a:ea typeface="Roboto"/>
                        <a:cs typeface="Roboto"/>
                        <a:sym typeface="Roboto"/>
                      </a:endParaRPr>
                    </a:p>
                  </a:txBody>
                  <a:tcPr marT="63500" marB="63500" marR="63500" marL="63500">
                    <a:solidFill>
                      <a:schemeClr val="lt1"/>
                    </a:solidFill>
                  </a:tcPr>
                </a:tc>
              </a:tr>
              <a:tr h="12700">
                <a:tc>
                  <a:txBody>
                    <a:bodyPr/>
                    <a:lstStyle/>
                    <a:p>
                      <a:pPr indent="0" lvl="0" marL="0" rtl="0" algn="l">
                        <a:lnSpc>
                          <a:spcPct val="115000"/>
                        </a:lnSpc>
                        <a:spcBef>
                          <a:spcPts val="0"/>
                        </a:spcBef>
                        <a:spcAft>
                          <a:spcPts val="0"/>
                        </a:spcAft>
                        <a:buNone/>
                      </a:pPr>
                      <a:r>
                        <a:rPr lang="de">
                          <a:latin typeface="Roboto"/>
                          <a:ea typeface="Roboto"/>
                          <a:cs typeface="Roboto"/>
                          <a:sym typeface="Roboto"/>
                        </a:rPr>
                        <a:t>Test</a:t>
                      </a:r>
                      <a:endParaRPr>
                        <a:latin typeface="Roboto"/>
                        <a:ea typeface="Roboto"/>
                        <a:cs typeface="Roboto"/>
                        <a:sym typeface="Roboto"/>
                      </a:endParaRPr>
                    </a:p>
                  </a:txBody>
                  <a:tcPr marT="63500" marB="63500" marR="63500" marL="63500">
                    <a:solidFill>
                      <a:schemeClr val="lt1"/>
                    </a:solidFill>
                  </a:tcPr>
                </a:tc>
                <a:tc>
                  <a:txBody>
                    <a:bodyPr/>
                    <a:lstStyle/>
                    <a:p>
                      <a:pPr indent="0" lvl="0" marL="0" rtl="0" algn="l">
                        <a:lnSpc>
                          <a:spcPct val="115000"/>
                        </a:lnSpc>
                        <a:spcBef>
                          <a:spcPts val="0"/>
                        </a:spcBef>
                        <a:spcAft>
                          <a:spcPts val="0"/>
                        </a:spcAft>
                        <a:buNone/>
                      </a:pPr>
                      <a:r>
                        <a:rPr lang="de">
                          <a:latin typeface="Roboto"/>
                          <a:ea typeface="Roboto"/>
                          <a:cs typeface="Roboto"/>
                          <a:sym typeface="Roboto"/>
                        </a:rPr>
                        <a:t>8h 55m</a:t>
                      </a:r>
                      <a:endParaRPr>
                        <a:latin typeface="Roboto"/>
                        <a:ea typeface="Roboto"/>
                        <a:cs typeface="Roboto"/>
                        <a:sym typeface="Roboto"/>
                      </a:endParaRPr>
                    </a:p>
                  </a:txBody>
                  <a:tcPr marT="63500" marB="63500" marR="63500" marL="63500">
                    <a:solidFill>
                      <a:schemeClr val="lt1"/>
                    </a:solidFill>
                  </a:tcPr>
                </a:tc>
              </a:tr>
              <a:tr h="12700">
                <a:tc>
                  <a:txBody>
                    <a:bodyPr/>
                    <a:lstStyle/>
                    <a:p>
                      <a:pPr indent="0" lvl="0" marL="0" rtl="0" algn="l">
                        <a:lnSpc>
                          <a:spcPct val="115000"/>
                        </a:lnSpc>
                        <a:spcBef>
                          <a:spcPts val="0"/>
                        </a:spcBef>
                        <a:spcAft>
                          <a:spcPts val="0"/>
                        </a:spcAft>
                        <a:buNone/>
                      </a:pPr>
                      <a:r>
                        <a:rPr lang="de">
                          <a:latin typeface="Roboto"/>
                          <a:ea typeface="Roboto"/>
                          <a:cs typeface="Roboto"/>
                          <a:sym typeface="Roboto"/>
                        </a:rPr>
                        <a:t>Deployment</a:t>
                      </a:r>
                      <a:endParaRPr>
                        <a:latin typeface="Roboto"/>
                        <a:ea typeface="Roboto"/>
                        <a:cs typeface="Roboto"/>
                        <a:sym typeface="Roboto"/>
                      </a:endParaRPr>
                    </a:p>
                  </a:txBody>
                  <a:tcPr marT="63500" marB="63500" marR="63500" marL="63500">
                    <a:solidFill>
                      <a:schemeClr val="lt1"/>
                    </a:solidFill>
                  </a:tcPr>
                </a:tc>
                <a:tc>
                  <a:txBody>
                    <a:bodyPr/>
                    <a:lstStyle/>
                    <a:p>
                      <a:pPr indent="0" lvl="0" marL="0" rtl="0" algn="l">
                        <a:lnSpc>
                          <a:spcPct val="115000"/>
                        </a:lnSpc>
                        <a:spcBef>
                          <a:spcPts val="0"/>
                        </a:spcBef>
                        <a:spcAft>
                          <a:spcPts val="0"/>
                        </a:spcAft>
                        <a:buNone/>
                      </a:pPr>
                      <a:r>
                        <a:rPr lang="de">
                          <a:latin typeface="Roboto"/>
                          <a:ea typeface="Roboto"/>
                          <a:cs typeface="Roboto"/>
                          <a:sym typeface="Roboto"/>
                        </a:rPr>
                        <a:t>5h 20m</a:t>
                      </a:r>
                      <a:endParaRPr>
                        <a:latin typeface="Roboto"/>
                        <a:ea typeface="Roboto"/>
                        <a:cs typeface="Roboto"/>
                        <a:sym typeface="Roboto"/>
                      </a:endParaRPr>
                    </a:p>
                  </a:txBody>
                  <a:tcPr marT="63500" marB="63500" marR="63500" marL="63500">
                    <a:solidFill>
                      <a:schemeClr val="lt1"/>
                    </a:solidFill>
                  </a:tcPr>
                </a:tc>
              </a:tr>
              <a:tr h="12700">
                <a:tc>
                  <a:txBody>
                    <a:bodyPr/>
                    <a:lstStyle/>
                    <a:p>
                      <a:pPr indent="0" lvl="0" marL="0" rtl="0" algn="l">
                        <a:lnSpc>
                          <a:spcPct val="115000"/>
                        </a:lnSpc>
                        <a:spcBef>
                          <a:spcPts val="0"/>
                        </a:spcBef>
                        <a:spcAft>
                          <a:spcPts val="0"/>
                        </a:spcAft>
                        <a:buNone/>
                      </a:pPr>
                      <a:r>
                        <a:rPr lang="de">
                          <a:latin typeface="Roboto"/>
                          <a:ea typeface="Roboto"/>
                          <a:cs typeface="Roboto"/>
                          <a:sym typeface="Roboto"/>
                        </a:rPr>
                        <a:t>Configuration &amp; Change Mgmt.</a:t>
                      </a:r>
                      <a:endParaRPr>
                        <a:latin typeface="Roboto"/>
                        <a:ea typeface="Roboto"/>
                        <a:cs typeface="Roboto"/>
                        <a:sym typeface="Roboto"/>
                      </a:endParaRPr>
                    </a:p>
                  </a:txBody>
                  <a:tcPr marT="63500" marB="63500" marR="63500" marL="63500">
                    <a:solidFill>
                      <a:schemeClr val="lt1"/>
                    </a:solidFill>
                  </a:tcPr>
                </a:tc>
                <a:tc>
                  <a:txBody>
                    <a:bodyPr/>
                    <a:lstStyle/>
                    <a:p>
                      <a:pPr indent="0" lvl="0" marL="0" rtl="0" algn="l">
                        <a:lnSpc>
                          <a:spcPct val="115000"/>
                        </a:lnSpc>
                        <a:spcBef>
                          <a:spcPts val="0"/>
                        </a:spcBef>
                        <a:spcAft>
                          <a:spcPts val="0"/>
                        </a:spcAft>
                        <a:buNone/>
                      </a:pPr>
                      <a:r>
                        <a:rPr lang="de">
                          <a:latin typeface="Roboto"/>
                          <a:ea typeface="Roboto"/>
                          <a:cs typeface="Roboto"/>
                          <a:sym typeface="Roboto"/>
                        </a:rPr>
                        <a:t>4h 30m</a:t>
                      </a:r>
                      <a:endParaRPr>
                        <a:latin typeface="Roboto"/>
                        <a:ea typeface="Roboto"/>
                        <a:cs typeface="Roboto"/>
                        <a:sym typeface="Roboto"/>
                      </a:endParaRPr>
                    </a:p>
                  </a:txBody>
                  <a:tcPr marT="63500" marB="63500" marR="63500" marL="63500">
                    <a:solidFill>
                      <a:schemeClr val="lt1"/>
                    </a:solidFill>
                  </a:tcPr>
                </a:tc>
              </a:tr>
              <a:tr h="12700">
                <a:tc>
                  <a:txBody>
                    <a:bodyPr/>
                    <a:lstStyle/>
                    <a:p>
                      <a:pPr indent="0" lvl="0" marL="0" rtl="0" algn="l">
                        <a:lnSpc>
                          <a:spcPct val="115000"/>
                        </a:lnSpc>
                        <a:spcBef>
                          <a:spcPts val="0"/>
                        </a:spcBef>
                        <a:spcAft>
                          <a:spcPts val="0"/>
                        </a:spcAft>
                        <a:buNone/>
                      </a:pPr>
                      <a:r>
                        <a:rPr lang="de">
                          <a:latin typeface="Roboto"/>
                          <a:ea typeface="Roboto"/>
                          <a:cs typeface="Roboto"/>
                          <a:sym typeface="Roboto"/>
                        </a:rPr>
                        <a:t>Project Management</a:t>
                      </a:r>
                      <a:endParaRPr>
                        <a:latin typeface="Roboto"/>
                        <a:ea typeface="Roboto"/>
                        <a:cs typeface="Roboto"/>
                        <a:sym typeface="Roboto"/>
                      </a:endParaRPr>
                    </a:p>
                  </a:txBody>
                  <a:tcPr marT="63500" marB="63500" marR="63500" marL="63500">
                    <a:solidFill>
                      <a:schemeClr val="lt1"/>
                    </a:solidFill>
                  </a:tcPr>
                </a:tc>
                <a:tc>
                  <a:txBody>
                    <a:bodyPr/>
                    <a:lstStyle/>
                    <a:p>
                      <a:pPr indent="0" lvl="0" marL="0" rtl="0" algn="l">
                        <a:lnSpc>
                          <a:spcPct val="115000"/>
                        </a:lnSpc>
                        <a:spcBef>
                          <a:spcPts val="0"/>
                        </a:spcBef>
                        <a:spcAft>
                          <a:spcPts val="0"/>
                        </a:spcAft>
                        <a:buNone/>
                      </a:pPr>
                      <a:r>
                        <a:rPr lang="de">
                          <a:latin typeface="Roboto"/>
                          <a:ea typeface="Roboto"/>
                          <a:cs typeface="Roboto"/>
                          <a:sym typeface="Roboto"/>
                        </a:rPr>
                        <a:t>9h 10m</a:t>
                      </a:r>
                      <a:endParaRPr>
                        <a:latin typeface="Roboto"/>
                        <a:ea typeface="Roboto"/>
                        <a:cs typeface="Roboto"/>
                        <a:sym typeface="Roboto"/>
                      </a:endParaRPr>
                    </a:p>
                  </a:txBody>
                  <a:tcPr marT="63500" marB="63500" marR="63500" marL="63500">
                    <a:solidFill>
                      <a:schemeClr val="lt1"/>
                    </a:solidFill>
                  </a:tcPr>
                </a:tc>
              </a:tr>
              <a:tr h="12700">
                <a:tc>
                  <a:txBody>
                    <a:bodyPr/>
                    <a:lstStyle/>
                    <a:p>
                      <a:pPr indent="0" lvl="0" marL="0" rtl="0" algn="l">
                        <a:lnSpc>
                          <a:spcPct val="115000"/>
                        </a:lnSpc>
                        <a:spcBef>
                          <a:spcPts val="0"/>
                        </a:spcBef>
                        <a:spcAft>
                          <a:spcPts val="0"/>
                        </a:spcAft>
                        <a:buNone/>
                      </a:pPr>
                      <a:r>
                        <a:rPr lang="de">
                          <a:latin typeface="Roboto"/>
                          <a:ea typeface="Roboto"/>
                          <a:cs typeface="Roboto"/>
                          <a:sym typeface="Roboto"/>
                        </a:rPr>
                        <a:t>Environment</a:t>
                      </a:r>
                      <a:endParaRPr>
                        <a:latin typeface="Roboto"/>
                        <a:ea typeface="Roboto"/>
                        <a:cs typeface="Roboto"/>
                        <a:sym typeface="Roboto"/>
                      </a:endParaRPr>
                    </a:p>
                  </a:txBody>
                  <a:tcPr marT="63500" marB="63500" marR="63500" marL="63500">
                    <a:solidFill>
                      <a:schemeClr val="lt1"/>
                    </a:solidFill>
                  </a:tcPr>
                </a:tc>
                <a:tc>
                  <a:txBody>
                    <a:bodyPr/>
                    <a:lstStyle/>
                    <a:p>
                      <a:pPr indent="0" lvl="0" marL="0" rtl="0" algn="l">
                        <a:lnSpc>
                          <a:spcPct val="115000"/>
                        </a:lnSpc>
                        <a:spcBef>
                          <a:spcPts val="0"/>
                        </a:spcBef>
                        <a:spcAft>
                          <a:spcPts val="0"/>
                        </a:spcAft>
                        <a:buNone/>
                      </a:pPr>
                      <a:r>
                        <a:rPr lang="de">
                          <a:latin typeface="Roboto"/>
                          <a:ea typeface="Roboto"/>
                          <a:cs typeface="Roboto"/>
                          <a:sym typeface="Roboto"/>
                        </a:rPr>
                        <a:t>5h 41m</a:t>
                      </a:r>
                      <a:endParaRPr>
                        <a:latin typeface="Roboto"/>
                        <a:ea typeface="Roboto"/>
                        <a:cs typeface="Roboto"/>
                        <a:sym typeface="Roboto"/>
                      </a:endParaRPr>
                    </a:p>
                  </a:txBody>
                  <a:tcPr marT="63500" marB="63500" marR="63500" marL="63500">
                    <a:solidFill>
                      <a:schemeClr val="lt1"/>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53" name="Shape 253"/>
        <p:cNvGrpSpPr/>
        <p:nvPr/>
      </p:nvGrpSpPr>
      <p:grpSpPr>
        <a:xfrm>
          <a:off x="0" y="0"/>
          <a:ext cx="0" cy="0"/>
          <a:chOff x="0" y="0"/>
          <a:chExt cx="0" cy="0"/>
        </a:xfrm>
      </p:grpSpPr>
      <p:sp>
        <p:nvSpPr>
          <p:cNvPr id="254" name="Google Shape;254;p41"/>
          <p:cNvSpPr txBox="1"/>
          <p:nvPr>
            <p:ph type="title"/>
          </p:nvPr>
        </p:nvSpPr>
        <p:spPr>
          <a:xfrm>
            <a:off x="311300" y="500925"/>
            <a:ext cx="5823300" cy="2049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Stunden pro Phase</a:t>
            </a:r>
            <a:endParaRPr/>
          </a:p>
        </p:txBody>
      </p:sp>
      <p:graphicFrame>
        <p:nvGraphicFramePr>
          <p:cNvPr id="255" name="Google Shape;255;p41"/>
          <p:cNvGraphicFramePr/>
          <p:nvPr/>
        </p:nvGraphicFramePr>
        <p:xfrm>
          <a:off x="656325" y="1511300"/>
          <a:ext cx="3000000" cy="3000000"/>
        </p:xfrm>
        <a:graphic>
          <a:graphicData uri="http://schemas.openxmlformats.org/drawingml/2006/table">
            <a:tbl>
              <a:tblPr>
                <a:noFill/>
                <a:tableStyleId>{87CC9A44-26F5-41E7-8740-DC66E2CEFB26}</a:tableStyleId>
              </a:tblPr>
              <a:tblGrid>
                <a:gridCol w="1287750"/>
                <a:gridCol w="1969200"/>
              </a:tblGrid>
              <a:tr h="394250">
                <a:tc>
                  <a:txBody>
                    <a:bodyPr/>
                    <a:lstStyle/>
                    <a:p>
                      <a:pPr indent="0" lvl="0" marL="0" rtl="0" algn="l">
                        <a:lnSpc>
                          <a:spcPct val="115000"/>
                        </a:lnSpc>
                        <a:spcBef>
                          <a:spcPts val="0"/>
                        </a:spcBef>
                        <a:spcAft>
                          <a:spcPts val="0"/>
                        </a:spcAft>
                        <a:buNone/>
                      </a:pPr>
                      <a:r>
                        <a:rPr b="1" lang="de">
                          <a:solidFill>
                            <a:schemeClr val="accent2"/>
                          </a:solidFill>
                          <a:latin typeface="Roboto"/>
                          <a:ea typeface="Roboto"/>
                          <a:cs typeface="Roboto"/>
                          <a:sym typeface="Roboto"/>
                        </a:rPr>
                        <a:t>Phase</a:t>
                      </a:r>
                      <a:endParaRPr b="1">
                        <a:solidFill>
                          <a:schemeClr val="accent2"/>
                        </a:solidFill>
                        <a:latin typeface="Roboto"/>
                        <a:ea typeface="Roboto"/>
                        <a:cs typeface="Roboto"/>
                        <a:sym typeface="Roboto"/>
                      </a:endParaRPr>
                    </a:p>
                  </a:txBody>
                  <a:tcPr marT="63500" marB="63500" marR="63500" marL="63500">
                    <a:solidFill>
                      <a:schemeClr val="dk1"/>
                    </a:solidFill>
                  </a:tcPr>
                </a:tc>
                <a:tc>
                  <a:txBody>
                    <a:bodyPr/>
                    <a:lstStyle/>
                    <a:p>
                      <a:pPr indent="0" lvl="0" marL="0" rtl="0" algn="l">
                        <a:lnSpc>
                          <a:spcPct val="115000"/>
                        </a:lnSpc>
                        <a:spcBef>
                          <a:spcPts val="0"/>
                        </a:spcBef>
                        <a:spcAft>
                          <a:spcPts val="0"/>
                        </a:spcAft>
                        <a:buNone/>
                      </a:pPr>
                      <a:r>
                        <a:rPr b="1" lang="de">
                          <a:solidFill>
                            <a:schemeClr val="accent2"/>
                          </a:solidFill>
                          <a:latin typeface="Roboto"/>
                          <a:ea typeface="Roboto"/>
                          <a:cs typeface="Roboto"/>
                          <a:sym typeface="Roboto"/>
                        </a:rPr>
                        <a:t>Erfasste Zeit</a:t>
                      </a:r>
                      <a:endParaRPr b="1">
                        <a:solidFill>
                          <a:schemeClr val="accent2"/>
                        </a:solidFill>
                        <a:latin typeface="Roboto"/>
                        <a:ea typeface="Roboto"/>
                        <a:cs typeface="Roboto"/>
                        <a:sym typeface="Roboto"/>
                      </a:endParaRPr>
                    </a:p>
                  </a:txBody>
                  <a:tcPr marT="63500" marB="63500" marR="63500" marL="63500">
                    <a:solidFill>
                      <a:schemeClr val="dk1"/>
                    </a:solidFill>
                  </a:tcPr>
                </a:tc>
              </a:tr>
              <a:tr h="394250">
                <a:tc>
                  <a:txBody>
                    <a:bodyPr/>
                    <a:lstStyle/>
                    <a:p>
                      <a:pPr indent="0" lvl="0" marL="0" rtl="0" algn="l">
                        <a:lnSpc>
                          <a:spcPct val="115000"/>
                        </a:lnSpc>
                        <a:spcBef>
                          <a:spcPts val="0"/>
                        </a:spcBef>
                        <a:spcAft>
                          <a:spcPts val="0"/>
                        </a:spcAft>
                        <a:buNone/>
                      </a:pPr>
                      <a:r>
                        <a:rPr lang="de">
                          <a:latin typeface="Roboto"/>
                          <a:ea typeface="Roboto"/>
                          <a:cs typeface="Roboto"/>
                          <a:sym typeface="Roboto"/>
                        </a:rPr>
                        <a:t>Inception</a:t>
                      </a:r>
                      <a:endParaRPr>
                        <a:latin typeface="Roboto"/>
                        <a:ea typeface="Roboto"/>
                        <a:cs typeface="Roboto"/>
                        <a:sym typeface="Roboto"/>
                      </a:endParaRPr>
                    </a:p>
                  </a:txBody>
                  <a:tcPr marT="63500" marB="63500" marR="63500" marL="63500">
                    <a:solidFill>
                      <a:schemeClr val="lt1"/>
                    </a:solidFill>
                  </a:tcPr>
                </a:tc>
                <a:tc>
                  <a:txBody>
                    <a:bodyPr/>
                    <a:lstStyle/>
                    <a:p>
                      <a:pPr indent="0" lvl="0" marL="0" rtl="0" algn="l">
                        <a:lnSpc>
                          <a:spcPct val="115000"/>
                        </a:lnSpc>
                        <a:spcBef>
                          <a:spcPts val="0"/>
                        </a:spcBef>
                        <a:spcAft>
                          <a:spcPts val="0"/>
                        </a:spcAft>
                        <a:buNone/>
                      </a:pPr>
                      <a:r>
                        <a:rPr lang="de">
                          <a:latin typeface="Roboto"/>
                          <a:ea typeface="Roboto"/>
                          <a:cs typeface="Roboto"/>
                          <a:sym typeface="Roboto"/>
                        </a:rPr>
                        <a:t>1d 10h 40m</a:t>
                      </a:r>
                      <a:endParaRPr>
                        <a:latin typeface="Roboto"/>
                        <a:ea typeface="Roboto"/>
                        <a:cs typeface="Roboto"/>
                        <a:sym typeface="Roboto"/>
                      </a:endParaRPr>
                    </a:p>
                  </a:txBody>
                  <a:tcPr marT="63500" marB="63500" marR="63500" marL="63500">
                    <a:solidFill>
                      <a:schemeClr val="lt1"/>
                    </a:solidFill>
                  </a:tcPr>
                </a:tc>
              </a:tr>
              <a:tr h="394250">
                <a:tc>
                  <a:txBody>
                    <a:bodyPr/>
                    <a:lstStyle/>
                    <a:p>
                      <a:pPr indent="0" lvl="0" marL="0" rtl="0" algn="l">
                        <a:lnSpc>
                          <a:spcPct val="115000"/>
                        </a:lnSpc>
                        <a:spcBef>
                          <a:spcPts val="0"/>
                        </a:spcBef>
                        <a:spcAft>
                          <a:spcPts val="0"/>
                        </a:spcAft>
                        <a:buNone/>
                      </a:pPr>
                      <a:r>
                        <a:rPr lang="de">
                          <a:latin typeface="Roboto"/>
                          <a:ea typeface="Roboto"/>
                          <a:cs typeface="Roboto"/>
                          <a:sym typeface="Roboto"/>
                        </a:rPr>
                        <a:t>Elaboration</a:t>
                      </a:r>
                      <a:endParaRPr>
                        <a:latin typeface="Roboto"/>
                        <a:ea typeface="Roboto"/>
                        <a:cs typeface="Roboto"/>
                        <a:sym typeface="Roboto"/>
                      </a:endParaRPr>
                    </a:p>
                  </a:txBody>
                  <a:tcPr marT="63500" marB="63500" marR="63500" marL="63500">
                    <a:solidFill>
                      <a:schemeClr val="lt1"/>
                    </a:solidFill>
                  </a:tcPr>
                </a:tc>
                <a:tc>
                  <a:txBody>
                    <a:bodyPr/>
                    <a:lstStyle/>
                    <a:p>
                      <a:pPr indent="0" lvl="0" marL="0" rtl="0" algn="l">
                        <a:lnSpc>
                          <a:spcPct val="115000"/>
                        </a:lnSpc>
                        <a:spcBef>
                          <a:spcPts val="0"/>
                        </a:spcBef>
                        <a:spcAft>
                          <a:spcPts val="0"/>
                        </a:spcAft>
                        <a:buNone/>
                      </a:pPr>
                      <a:r>
                        <a:rPr lang="de">
                          <a:latin typeface="Roboto"/>
                          <a:ea typeface="Roboto"/>
                          <a:cs typeface="Roboto"/>
                          <a:sym typeface="Roboto"/>
                        </a:rPr>
                        <a:t>15h 45m</a:t>
                      </a:r>
                      <a:endParaRPr>
                        <a:latin typeface="Roboto"/>
                        <a:ea typeface="Roboto"/>
                        <a:cs typeface="Roboto"/>
                        <a:sym typeface="Roboto"/>
                      </a:endParaRPr>
                    </a:p>
                  </a:txBody>
                  <a:tcPr marT="63500" marB="63500" marR="63500" marL="63500">
                    <a:solidFill>
                      <a:schemeClr val="lt1"/>
                    </a:solidFill>
                  </a:tcPr>
                </a:tc>
              </a:tr>
              <a:tr h="394250">
                <a:tc>
                  <a:txBody>
                    <a:bodyPr/>
                    <a:lstStyle/>
                    <a:p>
                      <a:pPr indent="0" lvl="0" marL="0" rtl="0" algn="l">
                        <a:lnSpc>
                          <a:spcPct val="115000"/>
                        </a:lnSpc>
                        <a:spcBef>
                          <a:spcPts val="0"/>
                        </a:spcBef>
                        <a:spcAft>
                          <a:spcPts val="0"/>
                        </a:spcAft>
                        <a:buNone/>
                      </a:pPr>
                      <a:r>
                        <a:rPr lang="de">
                          <a:latin typeface="Roboto"/>
                          <a:ea typeface="Roboto"/>
                          <a:cs typeface="Roboto"/>
                          <a:sym typeface="Roboto"/>
                        </a:rPr>
                        <a:t>Construction</a:t>
                      </a:r>
                      <a:endParaRPr>
                        <a:latin typeface="Roboto"/>
                        <a:ea typeface="Roboto"/>
                        <a:cs typeface="Roboto"/>
                        <a:sym typeface="Roboto"/>
                      </a:endParaRPr>
                    </a:p>
                  </a:txBody>
                  <a:tcPr marT="63500" marB="63500" marR="63500" marL="63500">
                    <a:solidFill>
                      <a:schemeClr val="lt1"/>
                    </a:solidFill>
                  </a:tcPr>
                </a:tc>
                <a:tc>
                  <a:txBody>
                    <a:bodyPr/>
                    <a:lstStyle/>
                    <a:p>
                      <a:pPr indent="0" lvl="0" marL="0" rtl="0" algn="l">
                        <a:lnSpc>
                          <a:spcPct val="115000"/>
                        </a:lnSpc>
                        <a:spcBef>
                          <a:spcPts val="0"/>
                        </a:spcBef>
                        <a:spcAft>
                          <a:spcPts val="0"/>
                        </a:spcAft>
                        <a:buNone/>
                      </a:pPr>
                      <a:r>
                        <a:rPr lang="de">
                          <a:latin typeface="Roboto"/>
                          <a:ea typeface="Roboto"/>
                          <a:cs typeface="Roboto"/>
                          <a:sym typeface="Roboto"/>
                        </a:rPr>
                        <a:t>7d 9h 18m </a:t>
                      </a:r>
                      <a:endParaRPr>
                        <a:latin typeface="Roboto"/>
                        <a:ea typeface="Roboto"/>
                        <a:cs typeface="Roboto"/>
                        <a:sym typeface="Roboto"/>
                      </a:endParaRPr>
                    </a:p>
                  </a:txBody>
                  <a:tcPr marT="63500" marB="63500" marR="63500" marL="63500">
                    <a:solidFill>
                      <a:schemeClr val="lt1"/>
                    </a:solidFill>
                  </a:tcPr>
                </a:tc>
              </a:tr>
              <a:tr h="394250">
                <a:tc>
                  <a:txBody>
                    <a:bodyPr/>
                    <a:lstStyle/>
                    <a:p>
                      <a:pPr indent="0" lvl="0" marL="0" rtl="0" algn="l">
                        <a:lnSpc>
                          <a:spcPct val="115000"/>
                        </a:lnSpc>
                        <a:spcBef>
                          <a:spcPts val="0"/>
                        </a:spcBef>
                        <a:spcAft>
                          <a:spcPts val="0"/>
                        </a:spcAft>
                        <a:buNone/>
                      </a:pPr>
                      <a:r>
                        <a:rPr lang="de">
                          <a:latin typeface="Roboto"/>
                          <a:ea typeface="Roboto"/>
                          <a:cs typeface="Roboto"/>
                          <a:sym typeface="Roboto"/>
                        </a:rPr>
                        <a:t>Transition</a:t>
                      </a:r>
                      <a:endParaRPr>
                        <a:latin typeface="Roboto"/>
                        <a:ea typeface="Roboto"/>
                        <a:cs typeface="Roboto"/>
                        <a:sym typeface="Roboto"/>
                      </a:endParaRPr>
                    </a:p>
                  </a:txBody>
                  <a:tcPr marT="63500" marB="63500" marR="63500" marL="63500">
                    <a:solidFill>
                      <a:schemeClr val="lt1"/>
                    </a:solidFill>
                  </a:tcPr>
                </a:tc>
                <a:tc>
                  <a:txBody>
                    <a:bodyPr/>
                    <a:lstStyle/>
                    <a:p>
                      <a:pPr indent="0" lvl="0" marL="0" rtl="0" algn="l">
                        <a:lnSpc>
                          <a:spcPct val="115000"/>
                        </a:lnSpc>
                        <a:spcBef>
                          <a:spcPts val="0"/>
                        </a:spcBef>
                        <a:spcAft>
                          <a:spcPts val="0"/>
                        </a:spcAft>
                        <a:buNone/>
                      </a:pPr>
                      <a:r>
                        <a:rPr lang="de">
                          <a:latin typeface="Roboto"/>
                          <a:ea typeface="Roboto"/>
                          <a:cs typeface="Roboto"/>
                          <a:sym typeface="Roboto"/>
                        </a:rPr>
                        <a:t>0m (nicht gestartet)</a:t>
                      </a:r>
                      <a:endParaRPr>
                        <a:latin typeface="Roboto"/>
                        <a:ea typeface="Roboto"/>
                        <a:cs typeface="Roboto"/>
                        <a:sym typeface="Roboto"/>
                      </a:endParaRPr>
                    </a:p>
                  </a:txBody>
                  <a:tcPr marT="63500" marB="63500" marR="63500" marL="63500">
                    <a:solidFill>
                      <a:schemeClr val="lt1"/>
                    </a:solidFill>
                  </a:tcPr>
                </a:tc>
              </a:tr>
            </a:tbl>
          </a:graphicData>
        </a:graphic>
      </p:graphicFrame>
      <p:sp>
        <p:nvSpPr>
          <p:cNvPr id="256" name="Google Shape;256;p41"/>
          <p:cNvSpPr txBox="1"/>
          <p:nvPr/>
        </p:nvSpPr>
        <p:spPr>
          <a:xfrm>
            <a:off x="5295775" y="11336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57" name="Google Shape;257;p41"/>
          <p:cNvSpPr txBox="1"/>
          <p:nvPr/>
        </p:nvSpPr>
        <p:spPr>
          <a:xfrm>
            <a:off x="5083700" y="1367050"/>
            <a:ext cx="3000000" cy="255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a:solidFill>
                  <a:srgbClr val="31394D"/>
                </a:solidFill>
              </a:rPr>
              <a:t>Unser Projekt durchlief nie die Transition-Phase, da wir bis zur Einreichungsfrist kontinuierlich weiterentwickelten. Folglich gab es keinen Zeitraum, in dem der Code an eine dritte Partei übergeben wurde. Die Präsentation fungierte als finale Auslieferung, wobei wir bis zum Moment der Einreichung die alleinigen Betreiber des Systems blieben.</a:t>
            </a:r>
            <a:endParaRPr>
              <a:solidFill>
                <a:srgbClr val="31394D"/>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61" name="Shape 261"/>
        <p:cNvGrpSpPr/>
        <p:nvPr/>
      </p:nvGrpSpPr>
      <p:grpSpPr>
        <a:xfrm>
          <a:off x="0" y="0"/>
          <a:ext cx="0" cy="0"/>
          <a:chOff x="0" y="0"/>
          <a:chExt cx="0" cy="0"/>
        </a:xfrm>
      </p:grpSpPr>
      <p:sp>
        <p:nvSpPr>
          <p:cNvPr id="262" name="Google Shape;262;p42"/>
          <p:cNvSpPr txBox="1"/>
          <p:nvPr>
            <p:ph type="title"/>
          </p:nvPr>
        </p:nvSpPr>
        <p:spPr>
          <a:xfrm>
            <a:off x="311300" y="500925"/>
            <a:ext cx="5823300" cy="2049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Entwicklung der Work-Items</a:t>
            </a:r>
            <a:endParaRPr/>
          </a:p>
        </p:txBody>
      </p:sp>
      <p:pic>
        <p:nvPicPr>
          <p:cNvPr id="263" name="Google Shape;263;p42"/>
          <p:cNvPicPr preferRelativeResize="0"/>
          <p:nvPr/>
        </p:nvPicPr>
        <p:blipFill>
          <a:blip r:embed="rId3">
            <a:alphaModFix/>
          </a:blip>
          <a:stretch>
            <a:fillRect/>
          </a:stretch>
        </p:blipFill>
        <p:spPr>
          <a:xfrm>
            <a:off x="152400" y="1285839"/>
            <a:ext cx="8839200" cy="3286514"/>
          </a:xfrm>
          <a:prstGeom prst="rect">
            <a:avLst/>
          </a:prstGeom>
          <a:noFill/>
          <a:ln>
            <a:noFill/>
          </a:ln>
        </p:spPr>
      </p:pic>
      <p:cxnSp>
        <p:nvCxnSpPr>
          <p:cNvPr id="264" name="Google Shape;264;p42"/>
          <p:cNvCxnSpPr/>
          <p:nvPr/>
        </p:nvCxnSpPr>
        <p:spPr>
          <a:xfrm rot="10800000">
            <a:off x="3195126" y="1236564"/>
            <a:ext cx="17400" cy="3420300"/>
          </a:xfrm>
          <a:prstGeom prst="straightConnector1">
            <a:avLst/>
          </a:prstGeom>
          <a:noFill/>
          <a:ln cap="flat" cmpd="sng" w="38100">
            <a:solidFill>
              <a:srgbClr val="980000"/>
            </a:solidFill>
            <a:prstDash val="solid"/>
            <a:round/>
            <a:headEnd len="med" w="med" type="none"/>
            <a:tailEnd len="med" w="med" type="none"/>
          </a:ln>
          <a:effectLst>
            <a:outerShdw blurRad="57150" rotWithShape="0" algn="bl" dir="5400000" dist="19050">
              <a:srgbClr val="000000">
                <a:alpha val="50000"/>
              </a:srgbClr>
            </a:outerShdw>
          </a:effectLst>
        </p:spPr>
      </p:cxnSp>
      <p:sp>
        <p:nvSpPr>
          <p:cNvPr id="265" name="Google Shape;265;p42"/>
          <p:cNvSpPr txBox="1"/>
          <p:nvPr/>
        </p:nvSpPr>
        <p:spPr>
          <a:xfrm>
            <a:off x="2453150" y="4653400"/>
            <a:ext cx="15396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1300">
                <a:solidFill>
                  <a:srgbClr val="980000"/>
                </a:solidFill>
                <a:latin typeface="Roboto"/>
                <a:ea typeface="Roboto"/>
                <a:cs typeface="Roboto"/>
                <a:sym typeface="Roboto"/>
              </a:rPr>
              <a:t>Ende 3. Semester</a:t>
            </a:r>
            <a:endParaRPr sz="1300">
              <a:solidFill>
                <a:srgbClr val="980000"/>
              </a:solidFill>
              <a:latin typeface="Roboto"/>
              <a:ea typeface="Roboto"/>
              <a:cs typeface="Roboto"/>
              <a:sym typeface="Roboto"/>
            </a:endParaRPr>
          </a:p>
        </p:txBody>
      </p:sp>
      <p:cxnSp>
        <p:nvCxnSpPr>
          <p:cNvPr id="266" name="Google Shape;266;p42"/>
          <p:cNvCxnSpPr/>
          <p:nvPr/>
        </p:nvCxnSpPr>
        <p:spPr>
          <a:xfrm rot="10800000">
            <a:off x="6603344" y="1233100"/>
            <a:ext cx="17400" cy="3420300"/>
          </a:xfrm>
          <a:prstGeom prst="straightConnector1">
            <a:avLst/>
          </a:prstGeom>
          <a:noFill/>
          <a:ln cap="flat" cmpd="sng" w="38100">
            <a:solidFill>
              <a:srgbClr val="980000"/>
            </a:solidFill>
            <a:prstDash val="solid"/>
            <a:round/>
            <a:headEnd len="med" w="med" type="none"/>
            <a:tailEnd len="med" w="med" type="none"/>
          </a:ln>
          <a:effectLst>
            <a:outerShdw blurRad="57150" rotWithShape="0" algn="bl" dir="5400000" dist="19050">
              <a:srgbClr val="000000">
                <a:alpha val="50000"/>
              </a:srgbClr>
            </a:outerShdw>
          </a:effectLst>
        </p:spPr>
      </p:cxnSp>
      <p:sp>
        <p:nvSpPr>
          <p:cNvPr id="267" name="Google Shape;267;p42"/>
          <p:cNvSpPr txBox="1"/>
          <p:nvPr/>
        </p:nvSpPr>
        <p:spPr>
          <a:xfrm>
            <a:off x="5760050" y="4653400"/>
            <a:ext cx="1704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1300">
                <a:solidFill>
                  <a:srgbClr val="980000"/>
                </a:solidFill>
                <a:latin typeface="Roboto"/>
                <a:ea typeface="Roboto"/>
                <a:cs typeface="Roboto"/>
                <a:sym typeface="Roboto"/>
              </a:rPr>
              <a:t>Beginn 4</a:t>
            </a:r>
            <a:r>
              <a:rPr lang="de" sz="1300">
                <a:solidFill>
                  <a:srgbClr val="980000"/>
                </a:solidFill>
                <a:latin typeface="Roboto"/>
                <a:ea typeface="Roboto"/>
                <a:cs typeface="Roboto"/>
                <a:sym typeface="Roboto"/>
              </a:rPr>
              <a:t>. Semester</a:t>
            </a:r>
            <a:endParaRPr sz="1300">
              <a:solidFill>
                <a:srgbClr val="980000"/>
              </a:solidFill>
              <a:latin typeface="Roboto"/>
              <a:ea typeface="Roboto"/>
              <a:cs typeface="Roboto"/>
              <a:sym typeface="Roboto"/>
            </a:endParaRPr>
          </a:p>
        </p:txBody>
      </p:sp>
      <p:sp>
        <p:nvSpPr>
          <p:cNvPr id="268" name="Google Shape;268;p42"/>
          <p:cNvSpPr txBox="1"/>
          <p:nvPr/>
        </p:nvSpPr>
        <p:spPr>
          <a:xfrm rot="-1763921">
            <a:off x="4401835" y="2630992"/>
            <a:ext cx="640477" cy="384725"/>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1300">
                <a:solidFill>
                  <a:srgbClr val="980000"/>
                </a:solidFill>
                <a:latin typeface="Roboto"/>
                <a:ea typeface="Roboto"/>
                <a:cs typeface="Roboto"/>
                <a:sym typeface="Roboto"/>
              </a:rPr>
              <a:t>Praxis</a:t>
            </a:r>
            <a:endParaRPr sz="1300">
              <a:solidFill>
                <a:srgbClr val="980000"/>
              </a:solidFill>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3"/>
          <p:cNvSpPr txBox="1"/>
          <p:nvPr>
            <p:ph type="ctrTitle"/>
          </p:nvPr>
        </p:nvSpPr>
        <p:spPr>
          <a:xfrm>
            <a:off x="1803050" y="1391300"/>
            <a:ext cx="5268000" cy="1067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de"/>
              <a:t>Retrospektive</a:t>
            </a:r>
            <a:br>
              <a:rPr lang="de"/>
            </a:br>
            <a:r>
              <a:rPr lang="de" sz="2650"/>
              <a:t>- Was haben wir gelernt? -</a:t>
            </a:r>
            <a:endParaRPr sz="265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4"/>
          <p:cNvSpPr txBox="1"/>
          <p:nvPr>
            <p:ph type="title"/>
          </p:nvPr>
        </p:nvSpPr>
        <p:spPr>
          <a:xfrm>
            <a:off x="311300" y="500925"/>
            <a:ext cx="3704400" cy="71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de"/>
              <a:t>Retrospektive</a:t>
            </a:r>
            <a:endParaRPr/>
          </a:p>
        </p:txBody>
      </p:sp>
      <p:graphicFrame>
        <p:nvGraphicFramePr>
          <p:cNvPr id="279" name="Google Shape;279;p44"/>
          <p:cNvGraphicFramePr/>
          <p:nvPr/>
        </p:nvGraphicFramePr>
        <p:xfrm>
          <a:off x="311300" y="1216975"/>
          <a:ext cx="3000000" cy="3000000"/>
        </p:xfrm>
        <a:graphic>
          <a:graphicData uri="http://schemas.openxmlformats.org/drawingml/2006/table">
            <a:tbl>
              <a:tblPr>
                <a:noFill/>
                <a:tableStyleId>{EF4BED10-2305-47ED-BE81-9D226BAEEF82}</a:tableStyleId>
              </a:tblPr>
              <a:tblGrid>
                <a:gridCol w="4260700"/>
                <a:gridCol w="4230775"/>
              </a:tblGrid>
              <a:tr h="421600">
                <a:tc>
                  <a:txBody>
                    <a:bodyPr/>
                    <a:lstStyle/>
                    <a:p>
                      <a:pPr indent="0" lvl="0" marL="0" rtl="0" algn="l">
                        <a:spcBef>
                          <a:spcPts val="0"/>
                        </a:spcBef>
                        <a:spcAft>
                          <a:spcPts val="0"/>
                        </a:spcAft>
                        <a:buNone/>
                      </a:pPr>
                      <a:r>
                        <a:rPr b="1" lang="de">
                          <a:solidFill>
                            <a:schemeClr val="accent2"/>
                          </a:solidFill>
                          <a:latin typeface="Roboto"/>
                          <a:ea typeface="Roboto"/>
                          <a:cs typeface="Roboto"/>
                          <a:sym typeface="Roboto"/>
                        </a:rPr>
                        <a:t>✅ Weiter so</a:t>
                      </a:r>
                      <a:endParaRPr b="1">
                        <a:solidFill>
                          <a:schemeClr val="accent2"/>
                        </a:solidFill>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b="1" lang="de">
                          <a:solidFill>
                            <a:schemeClr val="dk1"/>
                          </a:solidFill>
                          <a:latin typeface="Roboto"/>
                          <a:ea typeface="Roboto"/>
                          <a:cs typeface="Roboto"/>
                          <a:sym typeface="Roboto"/>
                        </a:rPr>
                        <a:t>❌ Stopp </a:t>
                      </a:r>
                      <a:endParaRPr b="1">
                        <a:solidFill>
                          <a:schemeClr val="dk1"/>
                        </a:solidFill>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196975">
                <a:tc>
                  <a:txBody>
                    <a:bodyPr/>
                    <a:lstStyle/>
                    <a:p>
                      <a:pPr indent="-317500" lvl="0" marL="457200" rtl="0" algn="l">
                        <a:spcBef>
                          <a:spcPts val="0"/>
                        </a:spcBef>
                        <a:spcAft>
                          <a:spcPts val="0"/>
                        </a:spcAft>
                        <a:buClr>
                          <a:schemeClr val="accent2"/>
                        </a:buClr>
                        <a:buSzPts val="1400"/>
                        <a:buFont typeface="Roboto"/>
                        <a:buChar char="●"/>
                      </a:pPr>
                      <a:r>
                        <a:rPr lang="de">
                          <a:solidFill>
                            <a:schemeClr val="accent2"/>
                          </a:solidFill>
                          <a:latin typeface="Roboto"/>
                          <a:ea typeface="Roboto"/>
                          <a:cs typeface="Roboto"/>
                          <a:sym typeface="Roboto"/>
                        </a:rPr>
                        <a:t>Pull Requests für Reviews</a:t>
                      </a:r>
                      <a:endParaRPr>
                        <a:solidFill>
                          <a:schemeClr val="accent2"/>
                        </a:solidFill>
                        <a:latin typeface="Roboto"/>
                        <a:ea typeface="Roboto"/>
                        <a:cs typeface="Roboto"/>
                        <a:sym typeface="Roboto"/>
                      </a:endParaRPr>
                    </a:p>
                    <a:p>
                      <a:pPr indent="-317500" lvl="0" marL="457200" rtl="0" algn="l">
                        <a:spcBef>
                          <a:spcPts val="0"/>
                        </a:spcBef>
                        <a:spcAft>
                          <a:spcPts val="0"/>
                        </a:spcAft>
                        <a:buClr>
                          <a:schemeClr val="accent2"/>
                        </a:buClr>
                        <a:buSzPts val="1400"/>
                        <a:buFont typeface="Roboto"/>
                        <a:buChar char="●"/>
                      </a:pPr>
                      <a:r>
                        <a:rPr lang="de">
                          <a:solidFill>
                            <a:schemeClr val="accent2"/>
                          </a:solidFill>
                          <a:latin typeface="Roboto"/>
                          <a:ea typeface="Roboto"/>
                          <a:cs typeface="Roboto"/>
                          <a:sym typeface="Roboto"/>
                        </a:rPr>
                        <a:t>Regelmäßige Kommunikation</a:t>
                      </a:r>
                      <a:endParaRPr>
                        <a:solidFill>
                          <a:schemeClr val="accent2"/>
                        </a:solidFill>
                        <a:latin typeface="Roboto"/>
                        <a:ea typeface="Roboto"/>
                        <a:cs typeface="Roboto"/>
                        <a:sym typeface="Roboto"/>
                      </a:endParaRPr>
                    </a:p>
                    <a:p>
                      <a:pPr indent="0" lvl="0" marL="457200" rtl="0" algn="l">
                        <a:spcBef>
                          <a:spcPts val="0"/>
                        </a:spcBef>
                        <a:spcAft>
                          <a:spcPts val="0"/>
                        </a:spcAft>
                        <a:buNone/>
                      </a:pPr>
                      <a:r>
                        <a:t/>
                      </a:r>
                      <a:endParaRPr>
                        <a:solidFill>
                          <a:schemeClr val="accent2"/>
                        </a:solidFill>
                        <a:latin typeface="Roboto"/>
                        <a:ea typeface="Roboto"/>
                        <a:cs typeface="Roboto"/>
                        <a:sym typeface="Roboto"/>
                      </a:endParaRPr>
                    </a:p>
                    <a:p>
                      <a:pPr indent="-317500" lvl="0" marL="457200" rtl="0" algn="l">
                        <a:spcBef>
                          <a:spcPts val="0"/>
                        </a:spcBef>
                        <a:spcAft>
                          <a:spcPts val="0"/>
                        </a:spcAft>
                        <a:buClr>
                          <a:schemeClr val="accent2"/>
                        </a:buClr>
                        <a:buSzPts val="1400"/>
                        <a:buFont typeface="Roboto"/>
                        <a:buChar char="●"/>
                      </a:pPr>
                      <a:r>
                        <a:rPr lang="de">
                          <a:solidFill>
                            <a:schemeClr val="accent2"/>
                          </a:solidFill>
                          <a:latin typeface="Roboto"/>
                          <a:ea typeface="Roboto"/>
                          <a:cs typeface="Roboto"/>
                          <a:sym typeface="Roboto"/>
                        </a:rPr>
                        <a:t>Häufiger Austausch über anstehende Aufgaben (wöchentliche Plannings)</a:t>
                      </a:r>
                      <a:endParaRPr>
                        <a:solidFill>
                          <a:schemeClr val="accent2"/>
                        </a:solidFill>
                        <a:latin typeface="Roboto"/>
                        <a:ea typeface="Roboto"/>
                        <a:cs typeface="Roboto"/>
                        <a:sym typeface="Roboto"/>
                      </a:endParaRPr>
                    </a:p>
                    <a:p>
                      <a:pPr indent="-317500" lvl="0" marL="457200" rtl="0" algn="l">
                        <a:spcBef>
                          <a:spcPts val="0"/>
                        </a:spcBef>
                        <a:spcAft>
                          <a:spcPts val="0"/>
                        </a:spcAft>
                        <a:buClr>
                          <a:schemeClr val="accent2"/>
                        </a:buClr>
                        <a:buSzPts val="1400"/>
                        <a:buFont typeface="Roboto"/>
                        <a:buChar char="●"/>
                      </a:pPr>
                      <a:r>
                        <a:rPr lang="de">
                          <a:solidFill>
                            <a:schemeClr val="accent2"/>
                          </a:solidFill>
                          <a:latin typeface="Roboto"/>
                          <a:ea typeface="Roboto"/>
                          <a:cs typeface="Roboto"/>
                          <a:sym typeface="Roboto"/>
                        </a:rPr>
                        <a:t>Guidelines für Branch-/Dateibenennung</a:t>
                      </a:r>
                      <a:endParaRPr>
                        <a:solidFill>
                          <a:schemeClr val="accent2"/>
                        </a:solidFill>
                        <a:latin typeface="Roboto"/>
                        <a:ea typeface="Roboto"/>
                        <a:cs typeface="Roboto"/>
                        <a:sym typeface="Roboto"/>
                      </a:endParaRPr>
                    </a:p>
                    <a:p>
                      <a:pPr indent="0" lvl="0" marL="0" rtl="0" algn="l">
                        <a:spcBef>
                          <a:spcPts val="0"/>
                        </a:spcBef>
                        <a:spcAft>
                          <a:spcPts val="0"/>
                        </a:spcAft>
                        <a:buNone/>
                      </a:pPr>
                      <a:r>
                        <a:t/>
                      </a:r>
                      <a:endParaRPr>
                        <a:solidFill>
                          <a:schemeClr val="accent2"/>
                        </a:solidFill>
                        <a:latin typeface="Roboto"/>
                        <a:ea typeface="Roboto"/>
                        <a:cs typeface="Roboto"/>
                        <a:sym typeface="Roboto"/>
                      </a:endParaRPr>
                    </a:p>
                    <a:p>
                      <a:pPr indent="-317500" lvl="0" marL="457200" rtl="0" algn="l">
                        <a:spcBef>
                          <a:spcPts val="0"/>
                        </a:spcBef>
                        <a:spcAft>
                          <a:spcPts val="0"/>
                        </a:spcAft>
                        <a:buClr>
                          <a:schemeClr val="accent2"/>
                        </a:buClr>
                        <a:buSzPts val="1400"/>
                        <a:buFont typeface="Roboto"/>
                        <a:buChar char="●"/>
                      </a:pPr>
                      <a:r>
                        <a:rPr lang="de">
                          <a:solidFill>
                            <a:schemeClr val="accent2"/>
                          </a:solidFill>
                          <a:latin typeface="Roboto"/>
                          <a:ea typeface="Roboto"/>
                          <a:cs typeface="Roboto"/>
                          <a:sym typeface="Roboto"/>
                        </a:rPr>
                        <a:t>Gegenseitige Hilfe bei Fragen</a:t>
                      </a:r>
                      <a:endParaRPr>
                        <a:solidFill>
                          <a:schemeClr val="accent2"/>
                        </a:solidFill>
                        <a:latin typeface="Roboto"/>
                        <a:ea typeface="Roboto"/>
                        <a:cs typeface="Roboto"/>
                        <a:sym typeface="Roboto"/>
                      </a:endParaRPr>
                    </a:p>
                    <a:p>
                      <a:pPr indent="-317500" lvl="0" marL="457200" rtl="0" algn="l">
                        <a:spcBef>
                          <a:spcPts val="0"/>
                        </a:spcBef>
                        <a:spcAft>
                          <a:spcPts val="0"/>
                        </a:spcAft>
                        <a:buClr>
                          <a:schemeClr val="accent2"/>
                        </a:buClr>
                        <a:buSzPts val="1400"/>
                        <a:buFont typeface="Roboto"/>
                        <a:buChar char="●"/>
                      </a:pPr>
                      <a:r>
                        <a:rPr lang="de">
                          <a:solidFill>
                            <a:schemeClr val="accent2"/>
                          </a:solidFill>
                          <a:latin typeface="Roboto"/>
                          <a:ea typeface="Roboto"/>
                          <a:cs typeface="Roboto"/>
                          <a:sym typeface="Roboto"/>
                        </a:rPr>
                        <a:t>Bestreben, alle Aufgaben zu erfüllen</a:t>
                      </a:r>
                      <a:endParaRPr>
                        <a:solidFill>
                          <a:schemeClr val="accent2"/>
                        </a:solidFill>
                        <a:latin typeface="Roboto"/>
                        <a:ea typeface="Roboto"/>
                        <a:cs typeface="Roboto"/>
                        <a:sym typeface="Roboto"/>
                      </a:endParaRPr>
                    </a:p>
                    <a:p>
                      <a:pPr indent="-317500" lvl="0" marL="457200" rtl="0" algn="l">
                        <a:spcBef>
                          <a:spcPts val="0"/>
                        </a:spcBef>
                        <a:spcAft>
                          <a:spcPts val="0"/>
                        </a:spcAft>
                        <a:buClr>
                          <a:schemeClr val="accent2"/>
                        </a:buClr>
                        <a:buSzPts val="1400"/>
                        <a:buFont typeface="Roboto"/>
                        <a:buChar char="●"/>
                      </a:pPr>
                      <a:r>
                        <a:rPr lang="de">
                          <a:solidFill>
                            <a:schemeClr val="accent2"/>
                          </a:solidFill>
                          <a:latin typeface="Roboto"/>
                          <a:ea typeface="Roboto"/>
                          <a:cs typeface="Roboto"/>
                          <a:sym typeface="Roboto"/>
                        </a:rPr>
                        <a:t>Tools zu Nutze gemacht (Jira Automations)</a:t>
                      </a:r>
                      <a:endParaRPr>
                        <a:solidFill>
                          <a:schemeClr val="accent2"/>
                        </a:solidFill>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317500" lvl="0" marL="457200" rtl="0" algn="l">
                        <a:spcBef>
                          <a:spcPts val="0"/>
                        </a:spcBef>
                        <a:spcAft>
                          <a:spcPts val="0"/>
                        </a:spcAft>
                        <a:buClr>
                          <a:schemeClr val="dk1"/>
                        </a:buClr>
                        <a:buSzPts val="1400"/>
                        <a:buFont typeface="Roboto"/>
                        <a:buChar char="●"/>
                      </a:pPr>
                      <a:r>
                        <a:rPr lang="de">
                          <a:solidFill>
                            <a:schemeClr val="dk1"/>
                          </a:solidFill>
                          <a:latin typeface="Roboto"/>
                          <a:ea typeface="Roboto"/>
                          <a:cs typeface="Roboto"/>
                          <a:sym typeface="Roboto"/>
                        </a:rPr>
                        <a:t>Ohne Setzen von Zeitplänen / Meilensteinen arbeiten</a:t>
                      </a:r>
                      <a:endParaRPr>
                        <a:solidFill>
                          <a:schemeClr val="dk1"/>
                        </a:solidFill>
                        <a:latin typeface="Roboto"/>
                        <a:ea typeface="Roboto"/>
                        <a:cs typeface="Roboto"/>
                        <a:sym typeface="Roboto"/>
                      </a:endParaRPr>
                    </a:p>
                    <a:p>
                      <a:pPr indent="0" lvl="0" marL="457200" rtl="0" algn="l">
                        <a:spcBef>
                          <a:spcPts val="0"/>
                        </a:spcBef>
                        <a:spcAft>
                          <a:spcPts val="0"/>
                        </a:spcAft>
                        <a:buNone/>
                      </a:pPr>
                      <a:r>
                        <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de">
                          <a:solidFill>
                            <a:schemeClr val="dk1"/>
                          </a:solidFill>
                          <a:latin typeface="Roboto"/>
                          <a:ea typeface="Roboto"/>
                          <a:cs typeface="Roboto"/>
                          <a:sym typeface="Roboto"/>
                        </a:rPr>
                        <a:t>Fehlende Synchronisation bzgl. PR Status</a:t>
                      </a:r>
                      <a:endParaRPr>
                        <a:solidFill>
                          <a:schemeClr val="dk1"/>
                        </a:solidFill>
                        <a:latin typeface="Roboto"/>
                        <a:ea typeface="Roboto"/>
                        <a:cs typeface="Roboto"/>
                        <a:sym typeface="Roboto"/>
                      </a:endParaRPr>
                    </a:p>
                    <a:p>
                      <a:pPr indent="0" lvl="0" marL="0" rtl="0" algn="l">
                        <a:spcBef>
                          <a:spcPts val="0"/>
                        </a:spcBef>
                        <a:spcAft>
                          <a:spcPts val="0"/>
                        </a:spcAft>
                        <a:buNone/>
                      </a:pPr>
                      <a:r>
                        <a:t/>
                      </a:r>
                      <a:endParaRPr>
                        <a:solidFill>
                          <a:schemeClr val="dk1"/>
                        </a:solidFill>
                        <a:latin typeface="Roboto"/>
                        <a:ea typeface="Roboto"/>
                        <a:cs typeface="Roboto"/>
                        <a:sym typeface="Roboto"/>
                      </a:endParaRPr>
                    </a:p>
                    <a:p>
                      <a:pPr indent="0" lvl="0" marL="0" rtl="0" algn="l">
                        <a:spcBef>
                          <a:spcPts val="0"/>
                        </a:spcBef>
                        <a:spcAft>
                          <a:spcPts val="0"/>
                        </a:spcAft>
                        <a:buNone/>
                      </a:pPr>
                      <a:r>
                        <a:t/>
                      </a:r>
                      <a:endParaRPr>
                        <a:solidFill>
                          <a:schemeClr val="dk1"/>
                        </a:solidFill>
                        <a:latin typeface="Roboto"/>
                        <a:ea typeface="Roboto"/>
                        <a:cs typeface="Roboto"/>
                        <a:sym typeface="Roboto"/>
                      </a:endParaRPr>
                    </a:p>
                    <a:p>
                      <a:pPr indent="0" lvl="0" marL="0" rtl="0" algn="l">
                        <a:spcBef>
                          <a:spcPts val="0"/>
                        </a:spcBef>
                        <a:spcAft>
                          <a:spcPts val="0"/>
                        </a:spcAft>
                        <a:buNone/>
                      </a:pPr>
                      <a:r>
                        <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de">
                          <a:solidFill>
                            <a:schemeClr val="dk1"/>
                          </a:solidFill>
                          <a:latin typeface="Roboto"/>
                          <a:ea typeface="Roboto"/>
                          <a:cs typeface="Roboto"/>
                          <a:sym typeface="Roboto"/>
                        </a:rPr>
                        <a:t>Abschweifen vom Minimum-Viable-Product bzw. “</a:t>
                      </a:r>
                      <a:r>
                        <a:rPr lang="de">
                          <a:solidFill>
                            <a:schemeClr val="dk1"/>
                          </a:solidFill>
                          <a:latin typeface="Roboto"/>
                          <a:ea typeface="Roboto"/>
                          <a:cs typeface="Roboto"/>
                          <a:sym typeface="Roboto"/>
                        </a:rPr>
                        <a:t>Feature-Creep”</a:t>
                      </a:r>
                      <a:endParaRPr>
                        <a:solidFill>
                          <a:schemeClr val="dk1"/>
                        </a:solidFill>
                        <a:latin typeface="Roboto"/>
                        <a:ea typeface="Roboto"/>
                        <a:cs typeface="Roboto"/>
                        <a:sym typeface="Roboto"/>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5"/>
          <p:cNvSpPr txBox="1"/>
          <p:nvPr>
            <p:ph type="ctrTitle"/>
          </p:nvPr>
        </p:nvSpPr>
        <p:spPr>
          <a:xfrm>
            <a:off x="1803050" y="1391300"/>
            <a:ext cx="5268000" cy="1067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de"/>
              <a:t>Live-Demo🚀</a:t>
            </a:r>
            <a:endParaRPr/>
          </a:p>
          <a:p>
            <a:pPr indent="0" lvl="0" marL="0" rtl="0" algn="ctr">
              <a:spcBef>
                <a:spcPts val="0"/>
              </a:spcBef>
              <a:spcAft>
                <a:spcPts val="0"/>
              </a:spcAft>
              <a:buNone/>
            </a:pPr>
            <a:r>
              <a:t/>
            </a:r>
            <a:endParaRPr sz="20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